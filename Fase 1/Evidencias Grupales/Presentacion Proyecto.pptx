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98941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días/tardes. Soy Luis Lagos y, junto a Marcelo Boetto y Gonzalo Díaz, conformamos el equipo que presenta esta propuesta de proyecto APT: Moovex, una plataforma SaaS de gestión logística de última milla para PyMEs chilenas.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Moovex centraliza 4 componentes clave: un panel web multi-tienda donde cada comercio ve solo sus pedidos, integraciones directas con marketplaces como MercadoLibre y WooCommerce, una aplicación para conductores con escaneo QR y evidencia fotográfica, y un módulo de facturación automática por zona geográfica.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problema es concreto: las PyMEs no tienen visibilidad de sus despachos. Moovex resuelve esto centralizando todo en una plataforma. La arquitectura es capaz de gestionar un alto volumen de pedidos, integrar cualquier tienda de e-commerce y conectar cualquier operador logístico, operando de forma continua.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4 competencias del perfil de egreso que aplicamos directamente: desarrollo de software con tecnologías modernas, modelado de datos con PostgreSQL, gestión de proyectos con metodología ágil, y validación en producción con datos reales. Cada competencia tiene aplicación directa en el proyecto.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proyecto es factible porque ya está en producción — no parto de cero. Tengo MVP funcional, infraestructura cloud pagada, clientes activos que validan cada mejora, y domino el stack tecnológico. Los riesgos están identificados con mitigaciones concretas para cada uno.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objetivo general es claro: desarrollar y operar la plataforma. Los 6 objetivos específicos cubren cada componente del sistema de forma medible y verificable.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metodología es ágil iterativa: planificar desde feedback real de clientes, desarrollar con tecnologías modernas, desplegar automáticamente con cada git push, validar en producción con datos reales, e iterar basado en los resultados. Es un proyecto en equipo con roles definidos: Luis en desarrollo, Marcelo en QA y Gonzalo en documentación.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Carta Gantt se divide en 3 fases de 6 semanas: Fase 1 cubre análisis, diseño y MVP. Fase 2 las integraciones con MercadoLibre, operadores logísticos y facturación. Fase 3 el testing, documentación y presentación final.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evidencias se dividen en avances parciales y entregables finales. Los avances incluyen el sistema web en producción, la app conductor y las integraciones activas. Los finales son el código documentado, la base de datos con más de 10.000 registros, el módulo de facturación y el informe final.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Moovex es un proyecto real, en producción, con clientes activos y más de 10.000 pedidos gestionados. No es un ejercicio académico — es un producto que resuelve un problema real para PyMEs chilenas. Gracias por su atención, estamos disponibles para sus preguntas.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p:spPr>
        <p:txBody>
          <a:bodyPr/>
          <a:lstStyle/>
          <a:p>
            <a:endParaRPr lang="es-CL"/>
          </a:p>
        </p:txBody>
      </p:sp>
      <p:sp>
        <p:nvSpPr>
          <p:cNvPr id="4" name="Text 2"/>
          <p:cNvSpPr txBox="1"/>
          <p:nvPr/>
        </p:nvSpPr>
        <p:spPr>
          <a:xfrm>
            <a:off x="548640" y="960120"/>
            <a:ext cx="3657600" cy="54864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MOOVEX</a:t>
            </a:r>
            <a:endParaRPr lang="en-US" sz="3600" dirty="0"/>
          </a:p>
        </p:txBody>
      </p:sp>
      <p:sp>
        <p:nvSpPr>
          <p:cNvPr id="5" name="Text 3"/>
          <p:cNvSpPr txBox="1"/>
          <p:nvPr/>
        </p:nvSpPr>
        <p:spPr>
          <a:xfrm>
            <a:off x="548640" y="1828800"/>
            <a:ext cx="6400800" cy="822960"/>
          </a:xfrm>
          <a:prstGeom prst="rect">
            <a:avLst/>
          </a:prstGeom>
          <a:noFill/>
          <a:ln/>
        </p:spPr>
        <p:txBody>
          <a:bodyPr wrap="square" lIns="0" tIns="0" rIns="0" bIns="0" rtlCol="0" anchor="ctr"/>
          <a:lstStyle/>
          <a:p>
            <a:pPr marL="0" indent="0">
              <a:lnSpc>
                <a:spcPct val="130000"/>
              </a:lnSpc>
              <a:buNone/>
            </a:pPr>
            <a:r>
              <a:rPr lang="en-US" sz="2000" dirty="0">
                <a:solidFill>
                  <a:srgbClr val="06B6D4"/>
                </a:solidFill>
                <a:latin typeface="Calibri" pitchFamily="34" charset="0"/>
                <a:ea typeface="Calibri" pitchFamily="34" charset="-122"/>
                <a:cs typeface="Calibri" pitchFamily="34" charset="-120"/>
              </a:rPr>
              <a:t>Plataforma SaaS de Gestión Logística</a:t>
            </a:r>
            <a:endParaRPr lang="en-US" sz="2000" dirty="0"/>
          </a:p>
          <a:p>
            <a:pPr marL="0" indent="0">
              <a:lnSpc>
                <a:spcPct val="130000"/>
              </a:lnSpc>
              <a:buNone/>
            </a:pPr>
            <a:r>
              <a:rPr lang="en-US" sz="2000" dirty="0">
                <a:solidFill>
                  <a:srgbClr val="06B6D4"/>
                </a:solidFill>
                <a:latin typeface="Calibri" pitchFamily="34" charset="0"/>
                <a:ea typeface="Calibri" pitchFamily="34" charset="-122"/>
                <a:cs typeface="Calibri" pitchFamily="34" charset="-120"/>
              </a:rPr>
              <a:t>de Última Milla para PyMEs Chilenas</a:t>
            </a:r>
            <a:endParaRPr lang="en-US" sz="2000" dirty="0"/>
          </a:p>
        </p:txBody>
      </p:sp>
      <p:sp>
        <p:nvSpPr>
          <p:cNvPr id="6" name="Shape 4"/>
          <p:cNvSpPr/>
          <p:nvPr/>
        </p:nvSpPr>
        <p:spPr>
          <a:xfrm>
            <a:off x="548640" y="2926080"/>
            <a:ext cx="1097280" cy="32004"/>
          </a:xfrm>
          <a:prstGeom prst="rect">
            <a:avLst/>
          </a:prstGeom>
          <a:solidFill>
            <a:srgbClr val="2563EB"/>
          </a:solidFill>
          <a:ln/>
        </p:spPr>
        <p:txBody>
          <a:bodyPr/>
          <a:lstStyle/>
          <a:p>
            <a:endParaRPr lang="es-CL"/>
          </a:p>
        </p:txBody>
      </p:sp>
      <p:sp>
        <p:nvSpPr>
          <p:cNvPr id="7" name="Text 5"/>
          <p:cNvSpPr txBox="1"/>
          <p:nvPr/>
        </p:nvSpPr>
        <p:spPr>
          <a:xfrm>
            <a:off x="548640" y="3200400"/>
            <a:ext cx="4572000" cy="274320"/>
          </a:xfrm>
          <a:prstGeom prst="rect">
            <a:avLst/>
          </a:prstGeom>
          <a:noFill/>
          <a:ln/>
        </p:spPr>
        <p:txBody>
          <a:bodyPr wrap="square" lIns="0" tIns="0" rIns="0" bIns="0" rtlCol="0" anchor="ctr"/>
          <a:lstStyle/>
          <a:p>
            <a:pPr marL="0" indent="0">
              <a:buNone/>
            </a:pPr>
            <a:r>
              <a:rPr lang="en-US" sz="1000" b="1" dirty="0">
                <a:solidFill>
                  <a:srgbClr val="94A3B8"/>
                </a:solidFill>
                <a:latin typeface="Calibri" pitchFamily="34" charset="0"/>
                <a:ea typeface="Calibri" pitchFamily="34" charset="-122"/>
                <a:cs typeface="Calibri" pitchFamily="34" charset="-120"/>
              </a:rPr>
              <a:t>PROPUESTA DE PROYECTO</a:t>
            </a:r>
            <a:endParaRPr lang="en-US" sz="1000" dirty="0"/>
          </a:p>
        </p:txBody>
      </p:sp>
      <p:sp>
        <p:nvSpPr>
          <p:cNvPr id="8" name="Text 6"/>
          <p:cNvSpPr txBox="1"/>
          <p:nvPr/>
        </p:nvSpPr>
        <p:spPr>
          <a:xfrm>
            <a:off x="548640" y="3520440"/>
            <a:ext cx="4572000" cy="27432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Asignatura de Portafolio de Título (APT)</a:t>
            </a:r>
            <a:endParaRPr lang="en-US" sz="1300" dirty="0"/>
          </a:p>
        </p:txBody>
      </p:sp>
      <p:sp>
        <p:nvSpPr>
          <p:cNvPr id="9" name="Text 7"/>
          <p:cNvSpPr txBox="1"/>
          <p:nvPr/>
        </p:nvSpPr>
        <p:spPr>
          <a:xfrm>
            <a:off x="548640" y="3794760"/>
            <a:ext cx="4572000" cy="5623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Luis Martin Lagos Sepúlveda</a:t>
            </a:r>
          </a:p>
          <a:p>
            <a:pPr marL="0" indent="0">
              <a:buNone/>
            </a:pPr>
            <a:r>
              <a:rPr lang="en-US" sz="1200" b="1" dirty="0">
                <a:solidFill>
                  <a:srgbClr val="FFFFFF"/>
                </a:solidFill>
                <a:latin typeface="Calibri" pitchFamily="34" charset="0"/>
                <a:ea typeface="Calibri" pitchFamily="34" charset="-122"/>
                <a:cs typeface="Calibri" pitchFamily="34" charset="-120"/>
              </a:rPr>
              <a:t>Marcelo Tomas </a:t>
            </a:r>
            <a:r>
              <a:rPr lang="en-US" sz="1200" b="1" dirty="0" err="1">
                <a:solidFill>
                  <a:srgbClr val="FFFFFF"/>
                </a:solidFill>
                <a:latin typeface="Calibri" pitchFamily="34" charset="0"/>
                <a:ea typeface="Calibri" pitchFamily="34" charset="-122"/>
                <a:cs typeface="Calibri" pitchFamily="34" charset="-120"/>
              </a:rPr>
              <a:t>Boetto</a:t>
            </a:r>
            <a:r>
              <a:rPr lang="en-US" sz="1200" b="1" dirty="0">
                <a:solidFill>
                  <a:srgbClr val="FFFFFF"/>
                </a:solidFill>
                <a:latin typeface="Calibri" pitchFamily="34" charset="0"/>
                <a:ea typeface="Calibri" pitchFamily="34" charset="-122"/>
                <a:cs typeface="Calibri" pitchFamily="34" charset="-120"/>
              </a:rPr>
              <a:t> Fernandez</a:t>
            </a:r>
          </a:p>
          <a:p>
            <a:pPr marL="0" indent="0">
              <a:buNone/>
            </a:pPr>
            <a:r>
              <a:rPr lang="en-US" sz="1200" b="1" dirty="0">
                <a:solidFill>
                  <a:srgbClr val="FFFFFF"/>
                </a:solidFill>
                <a:latin typeface="Calibri" pitchFamily="34" charset="0"/>
                <a:ea typeface="Calibri" pitchFamily="34" charset="-122"/>
                <a:cs typeface="Calibri" pitchFamily="34" charset="-120"/>
              </a:rPr>
              <a:t>Gonzalo Antonio Diaz Montalar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p:spPr>
        <p:txBody>
          <a:bodyPr/>
          <a:lstStyle/>
          <a:p>
            <a:endParaRPr lang="es-CL"/>
          </a:p>
        </p:txBody>
      </p:sp>
      <p:sp>
        <p:nvSpPr>
          <p:cNvPr id="3" name="Text 1"/>
          <p:cNvSpPr txBox="1"/>
          <p:nvPr/>
        </p:nvSpPr>
        <p:spPr>
          <a:xfrm>
            <a:off x="548640" y="365760"/>
            <a:ext cx="2743200" cy="228600"/>
          </a:xfrm>
          <a:prstGeom prst="rect">
            <a:avLst/>
          </a:prstGeom>
          <a:noFill/>
          <a:ln/>
        </p:spPr>
        <p:txBody>
          <a:bodyPr wrap="square" lIns="0" tIns="0" rIns="0" bIns="0" rtlCol="0" anchor="ctr"/>
          <a:lstStyle/>
          <a:p>
            <a:pPr marL="0" indent="0">
              <a:buNone/>
            </a:pPr>
            <a:r>
              <a:rPr lang="en-US" sz="1000" b="1" dirty="0">
                <a:solidFill>
                  <a:srgbClr val="2563EB"/>
                </a:solidFill>
                <a:latin typeface="Calibri" pitchFamily="34" charset="0"/>
                <a:ea typeface="Calibri" pitchFamily="34" charset="-122"/>
                <a:cs typeface="Calibri" pitchFamily="34" charset="-120"/>
              </a:rPr>
              <a:t>AGENDA</a:t>
            </a:r>
            <a:endParaRPr lang="en-US" sz="1000" dirty="0"/>
          </a:p>
        </p:txBody>
      </p:sp>
      <p:sp>
        <p:nvSpPr>
          <p:cNvPr id="4" name="Text 2"/>
          <p:cNvSpPr txBox="1"/>
          <p:nvPr/>
        </p:nvSpPr>
        <p:spPr>
          <a:xfrm>
            <a:off x="548640" y="640080"/>
            <a:ext cx="7315200" cy="36576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Estructura de la presentación</a:t>
            </a:r>
            <a:endParaRPr lang="en-US" sz="2200" dirty="0"/>
          </a:p>
        </p:txBody>
      </p:sp>
      <p:sp>
        <p:nvSpPr>
          <p:cNvPr id="5" name="Shape 3"/>
          <p:cNvSpPr/>
          <p:nvPr/>
        </p:nvSpPr>
        <p:spPr>
          <a:xfrm>
            <a:off x="548640" y="1234440"/>
            <a:ext cx="8046720" cy="402336"/>
          </a:xfrm>
          <a:prstGeom prst="roundRect">
            <a:avLst>
              <a:gd name="adj" fmla="val 13636"/>
            </a:avLst>
          </a:prstGeom>
          <a:solidFill>
            <a:srgbClr val="F1F5F9"/>
          </a:solidFill>
          <a:ln/>
        </p:spPr>
        <p:txBody>
          <a:bodyPr/>
          <a:lstStyle/>
          <a:p>
            <a:endParaRPr lang="es-CL"/>
          </a:p>
        </p:txBody>
      </p:sp>
      <p:sp>
        <p:nvSpPr>
          <p:cNvPr id="6" name="Text 4"/>
          <p:cNvSpPr txBox="1"/>
          <p:nvPr/>
        </p:nvSpPr>
        <p:spPr>
          <a:xfrm>
            <a:off x="685800" y="1234440"/>
            <a:ext cx="457200" cy="402336"/>
          </a:xfrm>
          <a:prstGeom prst="rect">
            <a:avLst/>
          </a:prstGeom>
          <a:noFill/>
          <a:ln/>
        </p:spPr>
        <p:txBody>
          <a:bodyPr wrap="square" lIns="0" tIns="0" rIns="0" bIns="0" rtlCol="0" anchor="ctr"/>
          <a:lstStyle/>
          <a:p>
            <a:pPr marL="0" indent="0">
              <a:buNone/>
            </a:pPr>
            <a:r>
              <a:rPr lang="en-US" sz="1300" b="1" dirty="0">
                <a:solidFill>
                  <a:srgbClr val="2563EB"/>
                </a:solidFill>
                <a:latin typeface="Calibri" pitchFamily="34" charset="0"/>
                <a:ea typeface="Calibri" pitchFamily="34" charset="-122"/>
                <a:cs typeface="Calibri" pitchFamily="34" charset="-120"/>
              </a:rPr>
              <a:t>01</a:t>
            </a:r>
            <a:endParaRPr lang="en-US" sz="1300" dirty="0"/>
          </a:p>
        </p:txBody>
      </p:sp>
      <p:sp>
        <p:nvSpPr>
          <p:cNvPr id="7" name="Text 5"/>
          <p:cNvSpPr txBox="1"/>
          <p:nvPr/>
        </p:nvSpPr>
        <p:spPr>
          <a:xfrm>
            <a:off x="1280160" y="1234440"/>
            <a:ext cx="2743200" cy="402336"/>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Definición e Impacto</a:t>
            </a:r>
            <a:endParaRPr lang="en-US" sz="1300" dirty="0"/>
          </a:p>
        </p:txBody>
      </p:sp>
      <p:sp>
        <p:nvSpPr>
          <p:cNvPr id="8" name="Text 6"/>
          <p:cNvSpPr txBox="1"/>
          <p:nvPr/>
        </p:nvSpPr>
        <p:spPr>
          <a:xfrm>
            <a:off x="4114800" y="1234440"/>
            <a:ext cx="4297680" cy="402336"/>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Qué es Moovex y su relevancia en el campo laboral</a:t>
            </a:r>
            <a:endParaRPr lang="en-US" sz="1100" dirty="0"/>
          </a:p>
        </p:txBody>
      </p:sp>
      <p:sp>
        <p:nvSpPr>
          <p:cNvPr id="9" name="Shape 7"/>
          <p:cNvSpPr/>
          <p:nvPr/>
        </p:nvSpPr>
        <p:spPr>
          <a:xfrm>
            <a:off x="548640" y="1709928"/>
            <a:ext cx="8046720" cy="402336"/>
          </a:xfrm>
          <a:prstGeom prst="roundRect">
            <a:avLst>
              <a:gd name="adj" fmla="val 13636"/>
            </a:avLst>
          </a:prstGeom>
          <a:solidFill>
            <a:srgbClr val="FFFFFF"/>
          </a:solidFill>
          <a:ln/>
        </p:spPr>
        <p:txBody>
          <a:bodyPr/>
          <a:lstStyle/>
          <a:p>
            <a:endParaRPr lang="es-CL"/>
          </a:p>
        </p:txBody>
      </p:sp>
      <p:sp>
        <p:nvSpPr>
          <p:cNvPr id="10" name="Text 8"/>
          <p:cNvSpPr txBox="1"/>
          <p:nvPr/>
        </p:nvSpPr>
        <p:spPr>
          <a:xfrm>
            <a:off x="685800" y="1709928"/>
            <a:ext cx="457200" cy="402336"/>
          </a:xfrm>
          <a:prstGeom prst="rect">
            <a:avLst/>
          </a:prstGeom>
          <a:noFill/>
          <a:ln/>
        </p:spPr>
        <p:txBody>
          <a:bodyPr wrap="square" lIns="0" tIns="0" rIns="0" bIns="0" rtlCol="0" anchor="ctr"/>
          <a:lstStyle/>
          <a:p>
            <a:pPr marL="0" indent="0">
              <a:buNone/>
            </a:pPr>
            <a:r>
              <a:rPr lang="en-US" sz="1300" b="1" dirty="0">
                <a:solidFill>
                  <a:srgbClr val="2563EB"/>
                </a:solidFill>
                <a:latin typeface="Calibri" pitchFamily="34" charset="0"/>
                <a:ea typeface="Calibri" pitchFamily="34" charset="-122"/>
                <a:cs typeface="Calibri" pitchFamily="34" charset="-120"/>
              </a:rPr>
              <a:t>02</a:t>
            </a:r>
            <a:endParaRPr lang="en-US" sz="1300" dirty="0"/>
          </a:p>
        </p:txBody>
      </p:sp>
      <p:sp>
        <p:nvSpPr>
          <p:cNvPr id="11" name="Text 9"/>
          <p:cNvSpPr txBox="1"/>
          <p:nvPr/>
        </p:nvSpPr>
        <p:spPr>
          <a:xfrm>
            <a:off x="1280160" y="1709928"/>
            <a:ext cx="2743200" cy="402336"/>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Perfil de Egreso e Intereses</a:t>
            </a:r>
            <a:endParaRPr lang="en-US" sz="1300" dirty="0"/>
          </a:p>
        </p:txBody>
      </p:sp>
      <p:sp>
        <p:nvSpPr>
          <p:cNvPr id="12" name="Text 10"/>
          <p:cNvSpPr txBox="1"/>
          <p:nvPr/>
        </p:nvSpPr>
        <p:spPr>
          <a:xfrm>
            <a:off x="4114800" y="1709928"/>
            <a:ext cx="4297680" cy="402336"/>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Competencias aplicadas y motivación profesional</a:t>
            </a:r>
            <a:endParaRPr lang="en-US" sz="1100" dirty="0"/>
          </a:p>
        </p:txBody>
      </p:sp>
      <p:sp>
        <p:nvSpPr>
          <p:cNvPr id="13" name="Shape 11"/>
          <p:cNvSpPr/>
          <p:nvPr/>
        </p:nvSpPr>
        <p:spPr>
          <a:xfrm>
            <a:off x="548640" y="2185416"/>
            <a:ext cx="8046720" cy="402336"/>
          </a:xfrm>
          <a:prstGeom prst="roundRect">
            <a:avLst>
              <a:gd name="adj" fmla="val 13636"/>
            </a:avLst>
          </a:prstGeom>
          <a:solidFill>
            <a:srgbClr val="F1F5F9"/>
          </a:solidFill>
          <a:ln/>
        </p:spPr>
        <p:txBody>
          <a:bodyPr/>
          <a:lstStyle/>
          <a:p>
            <a:endParaRPr lang="es-CL"/>
          </a:p>
        </p:txBody>
      </p:sp>
      <p:sp>
        <p:nvSpPr>
          <p:cNvPr id="14" name="Text 12"/>
          <p:cNvSpPr txBox="1"/>
          <p:nvPr/>
        </p:nvSpPr>
        <p:spPr>
          <a:xfrm>
            <a:off x="685800" y="2185416"/>
            <a:ext cx="457200" cy="402336"/>
          </a:xfrm>
          <a:prstGeom prst="rect">
            <a:avLst/>
          </a:prstGeom>
          <a:noFill/>
          <a:ln/>
        </p:spPr>
        <p:txBody>
          <a:bodyPr wrap="square" lIns="0" tIns="0" rIns="0" bIns="0" rtlCol="0" anchor="ctr"/>
          <a:lstStyle/>
          <a:p>
            <a:pPr marL="0" indent="0">
              <a:buNone/>
            </a:pPr>
            <a:r>
              <a:rPr lang="en-US" sz="1300" b="1" dirty="0">
                <a:solidFill>
                  <a:srgbClr val="2563EB"/>
                </a:solidFill>
                <a:latin typeface="Calibri" pitchFamily="34" charset="0"/>
                <a:ea typeface="Calibri" pitchFamily="34" charset="-122"/>
                <a:cs typeface="Calibri" pitchFamily="34" charset="-120"/>
              </a:rPr>
              <a:t>03</a:t>
            </a:r>
            <a:endParaRPr lang="en-US" sz="1300" dirty="0"/>
          </a:p>
        </p:txBody>
      </p:sp>
      <p:sp>
        <p:nvSpPr>
          <p:cNvPr id="15" name="Text 13"/>
          <p:cNvSpPr txBox="1"/>
          <p:nvPr/>
        </p:nvSpPr>
        <p:spPr>
          <a:xfrm>
            <a:off x="1280160" y="2185416"/>
            <a:ext cx="2743200" cy="402336"/>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Factibilidad y Riesgos</a:t>
            </a:r>
            <a:endParaRPr lang="en-US" sz="1300" dirty="0"/>
          </a:p>
        </p:txBody>
      </p:sp>
      <p:sp>
        <p:nvSpPr>
          <p:cNvPr id="16" name="Text 14"/>
          <p:cNvSpPr txBox="1"/>
          <p:nvPr/>
        </p:nvSpPr>
        <p:spPr>
          <a:xfrm>
            <a:off x="4114800" y="2185416"/>
            <a:ext cx="4297680" cy="402336"/>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Viabilidad del proyecto en el semestre</a:t>
            </a:r>
            <a:endParaRPr lang="en-US" sz="1100" dirty="0"/>
          </a:p>
        </p:txBody>
      </p:sp>
      <p:sp>
        <p:nvSpPr>
          <p:cNvPr id="17" name="Shape 15"/>
          <p:cNvSpPr/>
          <p:nvPr/>
        </p:nvSpPr>
        <p:spPr>
          <a:xfrm>
            <a:off x="548640" y="2660904"/>
            <a:ext cx="8046720" cy="402336"/>
          </a:xfrm>
          <a:prstGeom prst="roundRect">
            <a:avLst>
              <a:gd name="adj" fmla="val 13636"/>
            </a:avLst>
          </a:prstGeom>
          <a:solidFill>
            <a:srgbClr val="FFFFFF"/>
          </a:solidFill>
          <a:ln/>
        </p:spPr>
        <p:txBody>
          <a:bodyPr/>
          <a:lstStyle/>
          <a:p>
            <a:endParaRPr lang="es-CL"/>
          </a:p>
        </p:txBody>
      </p:sp>
      <p:sp>
        <p:nvSpPr>
          <p:cNvPr id="18" name="Text 16"/>
          <p:cNvSpPr txBox="1"/>
          <p:nvPr/>
        </p:nvSpPr>
        <p:spPr>
          <a:xfrm>
            <a:off x="685800" y="2660904"/>
            <a:ext cx="457200" cy="402336"/>
          </a:xfrm>
          <a:prstGeom prst="rect">
            <a:avLst/>
          </a:prstGeom>
          <a:noFill/>
          <a:ln/>
        </p:spPr>
        <p:txBody>
          <a:bodyPr wrap="square" lIns="0" tIns="0" rIns="0" bIns="0" rtlCol="0" anchor="ctr"/>
          <a:lstStyle/>
          <a:p>
            <a:pPr marL="0" indent="0">
              <a:buNone/>
            </a:pPr>
            <a:r>
              <a:rPr lang="en-US" sz="1300" b="1" dirty="0">
                <a:solidFill>
                  <a:srgbClr val="2563EB"/>
                </a:solidFill>
                <a:latin typeface="Calibri" pitchFamily="34" charset="0"/>
                <a:ea typeface="Calibri" pitchFamily="34" charset="-122"/>
                <a:cs typeface="Calibri" pitchFamily="34" charset="-120"/>
              </a:rPr>
              <a:t>04</a:t>
            </a:r>
            <a:endParaRPr lang="en-US" sz="1300" dirty="0"/>
          </a:p>
        </p:txBody>
      </p:sp>
      <p:sp>
        <p:nvSpPr>
          <p:cNvPr id="19" name="Text 17"/>
          <p:cNvSpPr txBox="1"/>
          <p:nvPr/>
        </p:nvSpPr>
        <p:spPr>
          <a:xfrm>
            <a:off x="1280160" y="2660904"/>
            <a:ext cx="2743200" cy="402336"/>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Objetivos</a:t>
            </a:r>
            <a:endParaRPr lang="en-US" sz="1300" dirty="0"/>
          </a:p>
        </p:txBody>
      </p:sp>
      <p:sp>
        <p:nvSpPr>
          <p:cNvPr id="20" name="Text 18"/>
          <p:cNvSpPr txBox="1"/>
          <p:nvPr/>
        </p:nvSpPr>
        <p:spPr>
          <a:xfrm>
            <a:off x="4114800" y="2660904"/>
            <a:ext cx="4297680" cy="402336"/>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Objetivo general y específicos del proyecto</a:t>
            </a:r>
            <a:endParaRPr lang="en-US" sz="1100" dirty="0"/>
          </a:p>
        </p:txBody>
      </p:sp>
      <p:sp>
        <p:nvSpPr>
          <p:cNvPr id="21" name="Shape 19"/>
          <p:cNvSpPr/>
          <p:nvPr/>
        </p:nvSpPr>
        <p:spPr>
          <a:xfrm>
            <a:off x="548640" y="3136392"/>
            <a:ext cx="8046720" cy="402336"/>
          </a:xfrm>
          <a:prstGeom prst="roundRect">
            <a:avLst>
              <a:gd name="adj" fmla="val 13636"/>
            </a:avLst>
          </a:prstGeom>
          <a:solidFill>
            <a:srgbClr val="F1F5F9"/>
          </a:solidFill>
          <a:ln/>
        </p:spPr>
        <p:txBody>
          <a:bodyPr/>
          <a:lstStyle/>
          <a:p>
            <a:endParaRPr lang="es-CL"/>
          </a:p>
        </p:txBody>
      </p:sp>
      <p:sp>
        <p:nvSpPr>
          <p:cNvPr id="22" name="Text 20"/>
          <p:cNvSpPr txBox="1"/>
          <p:nvPr/>
        </p:nvSpPr>
        <p:spPr>
          <a:xfrm>
            <a:off x="685800" y="3136392"/>
            <a:ext cx="457200" cy="402336"/>
          </a:xfrm>
          <a:prstGeom prst="rect">
            <a:avLst/>
          </a:prstGeom>
          <a:noFill/>
          <a:ln/>
        </p:spPr>
        <p:txBody>
          <a:bodyPr wrap="square" lIns="0" tIns="0" rIns="0" bIns="0" rtlCol="0" anchor="ctr"/>
          <a:lstStyle/>
          <a:p>
            <a:pPr marL="0" indent="0">
              <a:buNone/>
            </a:pPr>
            <a:r>
              <a:rPr lang="en-US" sz="1300" b="1" dirty="0">
                <a:solidFill>
                  <a:srgbClr val="2563EB"/>
                </a:solidFill>
                <a:latin typeface="Calibri" pitchFamily="34" charset="0"/>
                <a:ea typeface="Calibri" pitchFamily="34" charset="-122"/>
                <a:cs typeface="Calibri" pitchFamily="34" charset="-120"/>
              </a:rPr>
              <a:t>05</a:t>
            </a:r>
            <a:endParaRPr lang="en-US" sz="1300" dirty="0"/>
          </a:p>
        </p:txBody>
      </p:sp>
      <p:sp>
        <p:nvSpPr>
          <p:cNvPr id="23" name="Text 21"/>
          <p:cNvSpPr txBox="1"/>
          <p:nvPr/>
        </p:nvSpPr>
        <p:spPr>
          <a:xfrm>
            <a:off x="1280160" y="3136392"/>
            <a:ext cx="2743200" cy="402336"/>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Metodología de Trabajo</a:t>
            </a:r>
            <a:endParaRPr lang="en-US" sz="1300" dirty="0"/>
          </a:p>
        </p:txBody>
      </p:sp>
      <p:sp>
        <p:nvSpPr>
          <p:cNvPr id="24" name="Text 22"/>
          <p:cNvSpPr txBox="1"/>
          <p:nvPr/>
        </p:nvSpPr>
        <p:spPr>
          <a:xfrm>
            <a:off x="4114800" y="3136392"/>
            <a:ext cx="4297680" cy="402336"/>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Enfoque de desarrollo y rol del integrante</a:t>
            </a:r>
            <a:endParaRPr lang="en-US" sz="1100" dirty="0"/>
          </a:p>
        </p:txBody>
      </p:sp>
      <p:sp>
        <p:nvSpPr>
          <p:cNvPr id="25" name="Shape 23"/>
          <p:cNvSpPr/>
          <p:nvPr/>
        </p:nvSpPr>
        <p:spPr>
          <a:xfrm>
            <a:off x="548640" y="3611880"/>
            <a:ext cx="8046720" cy="402336"/>
          </a:xfrm>
          <a:prstGeom prst="roundRect">
            <a:avLst>
              <a:gd name="adj" fmla="val 13636"/>
            </a:avLst>
          </a:prstGeom>
          <a:solidFill>
            <a:srgbClr val="FFFFFF"/>
          </a:solidFill>
          <a:ln/>
        </p:spPr>
        <p:txBody>
          <a:bodyPr/>
          <a:lstStyle/>
          <a:p>
            <a:endParaRPr lang="es-CL"/>
          </a:p>
        </p:txBody>
      </p:sp>
      <p:sp>
        <p:nvSpPr>
          <p:cNvPr id="26" name="Text 24"/>
          <p:cNvSpPr txBox="1"/>
          <p:nvPr/>
        </p:nvSpPr>
        <p:spPr>
          <a:xfrm>
            <a:off x="685800" y="3611880"/>
            <a:ext cx="457200" cy="402336"/>
          </a:xfrm>
          <a:prstGeom prst="rect">
            <a:avLst/>
          </a:prstGeom>
          <a:noFill/>
          <a:ln/>
        </p:spPr>
        <p:txBody>
          <a:bodyPr wrap="square" lIns="0" tIns="0" rIns="0" bIns="0" rtlCol="0" anchor="ctr"/>
          <a:lstStyle/>
          <a:p>
            <a:pPr marL="0" indent="0">
              <a:buNone/>
            </a:pPr>
            <a:r>
              <a:rPr lang="en-US" sz="1300" b="1" dirty="0">
                <a:solidFill>
                  <a:srgbClr val="2563EB"/>
                </a:solidFill>
                <a:latin typeface="Calibri" pitchFamily="34" charset="0"/>
                <a:ea typeface="Calibri" pitchFamily="34" charset="-122"/>
                <a:cs typeface="Calibri" pitchFamily="34" charset="-120"/>
              </a:rPr>
              <a:t>06</a:t>
            </a:r>
            <a:endParaRPr lang="en-US" sz="1300" dirty="0"/>
          </a:p>
        </p:txBody>
      </p:sp>
      <p:sp>
        <p:nvSpPr>
          <p:cNvPr id="27" name="Text 25"/>
          <p:cNvSpPr txBox="1"/>
          <p:nvPr/>
        </p:nvSpPr>
        <p:spPr>
          <a:xfrm>
            <a:off x="1280160" y="3611880"/>
            <a:ext cx="2743200" cy="402336"/>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Plan de Trabajo</a:t>
            </a:r>
            <a:endParaRPr lang="en-US" sz="1300" dirty="0"/>
          </a:p>
        </p:txBody>
      </p:sp>
      <p:sp>
        <p:nvSpPr>
          <p:cNvPr id="28" name="Text 26"/>
          <p:cNvSpPr txBox="1"/>
          <p:nvPr/>
        </p:nvSpPr>
        <p:spPr>
          <a:xfrm>
            <a:off x="4114800" y="3611880"/>
            <a:ext cx="4297680" cy="402336"/>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Carta Gantt, recursos e hitos clave</a:t>
            </a:r>
            <a:endParaRPr lang="en-US" sz="1100" dirty="0"/>
          </a:p>
        </p:txBody>
      </p:sp>
      <p:sp>
        <p:nvSpPr>
          <p:cNvPr id="29" name="Shape 27"/>
          <p:cNvSpPr/>
          <p:nvPr/>
        </p:nvSpPr>
        <p:spPr>
          <a:xfrm>
            <a:off x="548640" y="4087368"/>
            <a:ext cx="8046720" cy="402336"/>
          </a:xfrm>
          <a:prstGeom prst="roundRect">
            <a:avLst>
              <a:gd name="adj" fmla="val 13636"/>
            </a:avLst>
          </a:prstGeom>
          <a:solidFill>
            <a:srgbClr val="F1F5F9"/>
          </a:solidFill>
          <a:ln/>
        </p:spPr>
        <p:txBody>
          <a:bodyPr/>
          <a:lstStyle/>
          <a:p>
            <a:endParaRPr lang="es-CL"/>
          </a:p>
        </p:txBody>
      </p:sp>
      <p:sp>
        <p:nvSpPr>
          <p:cNvPr id="30" name="Text 28"/>
          <p:cNvSpPr txBox="1"/>
          <p:nvPr/>
        </p:nvSpPr>
        <p:spPr>
          <a:xfrm>
            <a:off x="685800" y="4087368"/>
            <a:ext cx="457200" cy="402336"/>
          </a:xfrm>
          <a:prstGeom prst="rect">
            <a:avLst/>
          </a:prstGeom>
          <a:noFill/>
          <a:ln/>
        </p:spPr>
        <p:txBody>
          <a:bodyPr wrap="square" lIns="0" tIns="0" rIns="0" bIns="0" rtlCol="0" anchor="ctr"/>
          <a:lstStyle/>
          <a:p>
            <a:pPr marL="0" indent="0">
              <a:buNone/>
            </a:pPr>
            <a:r>
              <a:rPr lang="en-US" sz="1300" b="1" dirty="0">
                <a:solidFill>
                  <a:srgbClr val="2563EB"/>
                </a:solidFill>
                <a:latin typeface="Calibri" pitchFamily="34" charset="0"/>
                <a:ea typeface="Calibri" pitchFamily="34" charset="-122"/>
                <a:cs typeface="Calibri" pitchFamily="34" charset="-120"/>
              </a:rPr>
              <a:t>07</a:t>
            </a:r>
            <a:endParaRPr lang="en-US" sz="1300" dirty="0"/>
          </a:p>
        </p:txBody>
      </p:sp>
      <p:sp>
        <p:nvSpPr>
          <p:cNvPr id="31" name="Text 29"/>
          <p:cNvSpPr txBox="1"/>
          <p:nvPr/>
        </p:nvSpPr>
        <p:spPr>
          <a:xfrm>
            <a:off x="1280160" y="4087368"/>
            <a:ext cx="2743200" cy="402336"/>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Evidencias</a:t>
            </a:r>
            <a:endParaRPr lang="en-US" sz="1300" dirty="0"/>
          </a:p>
        </p:txBody>
      </p:sp>
      <p:sp>
        <p:nvSpPr>
          <p:cNvPr id="32" name="Text 30"/>
          <p:cNvSpPr txBox="1"/>
          <p:nvPr/>
        </p:nvSpPr>
        <p:spPr>
          <a:xfrm>
            <a:off x="4114800" y="4087368"/>
            <a:ext cx="4297680" cy="402336"/>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Entregables técnicos que validan el avance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p:spPr>
        <p:txBody>
          <a:bodyPr/>
          <a:lstStyle/>
          <a:p>
            <a:endParaRPr lang="es-CL"/>
          </a:p>
        </p:txBody>
      </p:sp>
      <p:sp>
        <p:nvSpPr>
          <p:cNvPr id="3" name="Text 1"/>
          <p:cNvSpPr txBox="1"/>
          <p:nvPr/>
        </p:nvSpPr>
        <p:spPr>
          <a:xfrm>
            <a:off x="548640" y="365760"/>
            <a:ext cx="3657600" cy="228600"/>
          </a:xfrm>
          <a:prstGeom prst="rect">
            <a:avLst/>
          </a:prstGeom>
          <a:noFill/>
          <a:ln/>
        </p:spPr>
        <p:txBody>
          <a:bodyPr wrap="square" lIns="0" tIns="0" rIns="0" bIns="0" rtlCol="0" anchor="ctr"/>
          <a:lstStyle/>
          <a:p>
            <a:pPr marL="0" indent="0">
              <a:buNone/>
            </a:pPr>
            <a:r>
              <a:rPr lang="en-US" sz="1000" b="1" dirty="0">
                <a:solidFill>
                  <a:srgbClr val="2563EB"/>
                </a:solidFill>
                <a:latin typeface="Calibri" pitchFamily="34" charset="0"/>
                <a:ea typeface="Calibri" pitchFamily="34" charset="-122"/>
                <a:cs typeface="Calibri" pitchFamily="34" charset="-120"/>
              </a:rPr>
              <a:t>01 · DEFINICIÓN</a:t>
            </a:r>
            <a:endParaRPr lang="en-US" sz="1000" dirty="0"/>
          </a:p>
        </p:txBody>
      </p:sp>
      <p:sp>
        <p:nvSpPr>
          <p:cNvPr id="4" name="Text 2"/>
          <p:cNvSpPr txBox="1"/>
          <p:nvPr/>
        </p:nvSpPr>
        <p:spPr>
          <a:xfrm>
            <a:off x="548640" y="640080"/>
            <a:ext cx="7315200" cy="36576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¿Qué es Moovex?</a:t>
            </a:r>
            <a:endParaRPr lang="en-US" sz="2200" dirty="0"/>
          </a:p>
        </p:txBody>
      </p:sp>
      <p:sp>
        <p:nvSpPr>
          <p:cNvPr id="5" name="Text 3"/>
          <p:cNvSpPr txBox="1"/>
          <p:nvPr/>
        </p:nvSpPr>
        <p:spPr>
          <a:xfrm>
            <a:off x="548640" y="1143000"/>
            <a:ext cx="8046720" cy="4572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Moovex es una plataforma SaaS que centraliza la gestión logística de última milla, conectando tiendas de e-commerce con operadores de despacho en una sola herramienta.</a:t>
            </a:r>
            <a:endParaRPr lang="en-US" sz="1200" dirty="0"/>
          </a:p>
        </p:txBody>
      </p:sp>
      <p:sp>
        <p:nvSpPr>
          <p:cNvPr id="6" name="Shape 4"/>
          <p:cNvSpPr/>
          <p:nvPr/>
        </p:nvSpPr>
        <p:spPr>
          <a:xfrm>
            <a:off x="548640" y="1828800"/>
            <a:ext cx="1920240" cy="2377440"/>
          </a:xfrm>
          <a:prstGeom prst="roundRect">
            <a:avLst>
              <a:gd name="adj" fmla="val 4762"/>
            </a:avLst>
          </a:prstGeom>
          <a:solidFill>
            <a:srgbClr val="EFF6FF"/>
          </a:solidFill>
          <a:ln/>
        </p:spPr>
        <p:txBody>
          <a:bodyPr/>
          <a:lstStyle/>
          <a:p>
            <a:endParaRPr lang="es-CL"/>
          </a:p>
        </p:txBody>
      </p:sp>
      <p:sp>
        <p:nvSpPr>
          <p:cNvPr id="7" name="Text 5"/>
          <p:cNvSpPr txBox="1"/>
          <p:nvPr/>
        </p:nvSpPr>
        <p:spPr>
          <a:xfrm>
            <a:off x="548640" y="1965960"/>
            <a:ext cx="1920240" cy="45720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8" name="Text 6"/>
          <p:cNvSpPr txBox="1"/>
          <p:nvPr/>
        </p:nvSpPr>
        <p:spPr>
          <a:xfrm>
            <a:off x="685800" y="2468880"/>
            <a:ext cx="1645920" cy="320040"/>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Panel Multi-tienda</a:t>
            </a:r>
            <a:endParaRPr lang="en-US" sz="1100" dirty="0"/>
          </a:p>
        </p:txBody>
      </p:sp>
      <p:sp>
        <p:nvSpPr>
          <p:cNvPr id="9" name="Text 7"/>
          <p:cNvSpPr txBox="1"/>
          <p:nvPr/>
        </p:nvSpPr>
        <p:spPr>
          <a:xfrm>
            <a:off x="685800" y="2834640"/>
            <a:ext cx="1645920" cy="1097280"/>
          </a:xfrm>
          <a:prstGeom prst="rect">
            <a:avLst/>
          </a:prstGeom>
          <a:noFill/>
          <a:ln/>
        </p:spPr>
        <p:txBody>
          <a:bodyPr wrap="square" lIns="0" tIns="0" rIns="0" bIns="0" rtlCol="0" anchor="ctr"/>
          <a:lstStyle/>
          <a:p>
            <a:pPr marL="0" indent="0" algn="ctr">
              <a:lnSpc>
                <a:spcPct val="130000"/>
              </a:lnSpc>
              <a:buNone/>
            </a:pPr>
            <a:r>
              <a:rPr lang="en-US" sz="900" dirty="0">
                <a:solidFill>
                  <a:srgbClr val="64748B"/>
                </a:solidFill>
                <a:latin typeface="Calibri" pitchFamily="34" charset="0"/>
                <a:ea typeface="Calibri" pitchFamily="34" charset="-122"/>
                <a:cs typeface="Calibri" pitchFamily="34" charset="-120"/>
              </a:rPr>
              <a:t>Dashboard centralizado donde cada tienda visualiza únicamente sus pedidos con estados en tiempo real.</a:t>
            </a:r>
            <a:endParaRPr lang="en-US" sz="900" dirty="0"/>
          </a:p>
        </p:txBody>
      </p:sp>
      <p:sp>
        <p:nvSpPr>
          <p:cNvPr id="10" name="Shape 8"/>
          <p:cNvSpPr/>
          <p:nvPr/>
        </p:nvSpPr>
        <p:spPr>
          <a:xfrm>
            <a:off x="2651760" y="1828800"/>
            <a:ext cx="1920240" cy="2377440"/>
          </a:xfrm>
          <a:prstGeom prst="roundRect">
            <a:avLst>
              <a:gd name="adj" fmla="val 4762"/>
            </a:avLst>
          </a:prstGeom>
          <a:solidFill>
            <a:srgbClr val="F0FDF4"/>
          </a:solidFill>
          <a:ln/>
        </p:spPr>
        <p:txBody>
          <a:bodyPr/>
          <a:lstStyle/>
          <a:p>
            <a:endParaRPr lang="es-CL"/>
          </a:p>
        </p:txBody>
      </p:sp>
      <p:sp>
        <p:nvSpPr>
          <p:cNvPr id="11" name="Text 9"/>
          <p:cNvSpPr txBox="1"/>
          <p:nvPr/>
        </p:nvSpPr>
        <p:spPr>
          <a:xfrm>
            <a:off x="2651760" y="1965960"/>
            <a:ext cx="1920240" cy="45720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2" name="Text 10"/>
          <p:cNvSpPr txBox="1"/>
          <p:nvPr/>
        </p:nvSpPr>
        <p:spPr>
          <a:xfrm>
            <a:off x="2788920" y="2468880"/>
            <a:ext cx="1645920" cy="320040"/>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Integraciones E-commerce</a:t>
            </a:r>
            <a:endParaRPr lang="en-US" sz="1100" dirty="0"/>
          </a:p>
        </p:txBody>
      </p:sp>
      <p:sp>
        <p:nvSpPr>
          <p:cNvPr id="13" name="Text 11"/>
          <p:cNvSpPr txBox="1"/>
          <p:nvPr/>
        </p:nvSpPr>
        <p:spPr>
          <a:xfrm>
            <a:off x="2788920" y="2834640"/>
            <a:ext cx="1645920" cy="1097280"/>
          </a:xfrm>
          <a:prstGeom prst="rect">
            <a:avLst/>
          </a:prstGeom>
          <a:noFill/>
          <a:ln/>
        </p:spPr>
        <p:txBody>
          <a:bodyPr wrap="square" lIns="0" tIns="0" rIns="0" bIns="0" rtlCol="0" anchor="ctr"/>
          <a:lstStyle/>
          <a:p>
            <a:pPr marL="0" indent="0" algn="ctr">
              <a:lnSpc>
                <a:spcPct val="130000"/>
              </a:lnSpc>
              <a:buNone/>
            </a:pPr>
            <a:r>
              <a:rPr lang="en-US" sz="900" dirty="0">
                <a:solidFill>
                  <a:srgbClr val="64748B"/>
                </a:solidFill>
                <a:latin typeface="Calibri" pitchFamily="34" charset="0"/>
                <a:ea typeface="Calibri" pitchFamily="34" charset="-122"/>
                <a:cs typeface="Calibri" pitchFamily="34" charset="-120"/>
              </a:rPr>
              <a:t>Conexión directa con MercadoLibre, WooCommerce y Shopify mediante OAuth 2.0 y webhooks.</a:t>
            </a:r>
            <a:endParaRPr lang="en-US" sz="900" dirty="0"/>
          </a:p>
        </p:txBody>
      </p:sp>
      <p:sp>
        <p:nvSpPr>
          <p:cNvPr id="14" name="Shape 12"/>
          <p:cNvSpPr/>
          <p:nvPr/>
        </p:nvSpPr>
        <p:spPr>
          <a:xfrm>
            <a:off x="4754880" y="1828800"/>
            <a:ext cx="1920240" cy="2377440"/>
          </a:xfrm>
          <a:prstGeom prst="roundRect">
            <a:avLst>
              <a:gd name="adj" fmla="val 4762"/>
            </a:avLst>
          </a:prstGeom>
          <a:solidFill>
            <a:srgbClr val="FFF7ED"/>
          </a:solidFill>
          <a:ln/>
        </p:spPr>
        <p:txBody>
          <a:bodyPr/>
          <a:lstStyle/>
          <a:p>
            <a:endParaRPr lang="es-CL"/>
          </a:p>
        </p:txBody>
      </p:sp>
      <p:sp>
        <p:nvSpPr>
          <p:cNvPr id="15" name="Text 13"/>
          <p:cNvSpPr txBox="1"/>
          <p:nvPr/>
        </p:nvSpPr>
        <p:spPr>
          <a:xfrm>
            <a:off x="4754880" y="1965960"/>
            <a:ext cx="1920240" cy="45720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6" name="Text 14"/>
          <p:cNvSpPr txBox="1"/>
          <p:nvPr/>
        </p:nvSpPr>
        <p:spPr>
          <a:xfrm>
            <a:off x="4892040" y="2468880"/>
            <a:ext cx="1645920" cy="320040"/>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App Conductor</a:t>
            </a:r>
            <a:endParaRPr lang="en-US" sz="1100" dirty="0"/>
          </a:p>
        </p:txBody>
      </p:sp>
      <p:sp>
        <p:nvSpPr>
          <p:cNvPr id="17" name="Text 15"/>
          <p:cNvSpPr txBox="1"/>
          <p:nvPr/>
        </p:nvSpPr>
        <p:spPr>
          <a:xfrm>
            <a:off x="4892040" y="2834640"/>
            <a:ext cx="1645920" cy="1097280"/>
          </a:xfrm>
          <a:prstGeom prst="rect">
            <a:avLst/>
          </a:prstGeom>
          <a:noFill/>
          <a:ln/>
        </p:spPr>
        <p:txBody>
          <a:bodyPr wrap="square" lIns="0" tIns="0" rIns="0" bIns="0" rtlCol="0" anchor="ctr"/>
          <a:lstStyle/>
          <a:p>
            <a:pPr marL="0" indent="0" algn="ctr">
              <a:lnSpc>
                <a:spcPct val="130000"/>
              </a:lnSpc>
              <a:buNone/>
            </a:pPr>
            <a:r>
              <a:rPr lang="en-US" sz="900" dirty="0">
                <a:solidFill>
                  <a:srgbClr val="64748B"/>
                </a:solidFill>
                <a:latin typeface="Calibri" pitchFamily="34" charset="0"/>
                <a:ea typeface="Calibri" pitchFamily="34" charset="-122"/>
                <a:cs typeface="Calibri" pitchFamily="34" charset="-120"/>
              </a:rPr>
              <a:t>Aplicación PWA para escaneo QR, actualización de estados y captura de evidencia fotográfica.</a:t>
            </a:r>
            <a:endParaRPr lang="en-US" sz="900" dirty="0"/>
          </a:p>
        </p:txBody>
      </p:sp>
      <p:sp>
        <p:nvSpPr>
          <p:cNvPr id="18" name="Shape 16"/>
          <p:cNvSpPr/>
          <p:nvPr/>
        </p:nvSpPr>
        <p:spPr>
          <a:xfrm>
            <a:off x="6858000" y="1828800"/>
            <a:ext cx="1920240" cy="2377440"/>
          </a:xfrm>
          <a:prstGeom prst="roundRect">
            <a:avLst>
              <a:gd name="adj" fmla="val 4762"/>
            </a:avLst>
          </a:prstGeom>
          <a:solidFill>
            <a:srgbClr val="F5F3FF"/>
          </a:solidFill>
          <a:ln/>
        </p:spPr>
        <p:txBody>
          <a:bodyPr/>
          <a:lstStyle/>
          <a:p>
            <a:endParaRPr lang="es-CL"/>
          </a:p>
        </p:txBody>
      </p:sp>
      <p:sp>
        <p:nvSpPr>
          <p:cNvPr id="19" name="Text 17"/>
          <p:cNvSpPr txBox="1"/>
          <p:nvPr/>
        </p:nvSpPr>
        <p:spPr>
          <a:xfrm>
            <a:off x="6858000" y="1965960"/>
            <a:ext cx="1920240" cy="45720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20" name="Text 18"/>
          <p:cNvSpPr txBox="1"/>
          <p:nvPr/>
        </p:nvSpPr>
        <p:spPr>
          <a:xfrm>
            <a:off x="6995160" y="2468880"/>
            <a:ext cx="1645920" cy="320040"/>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Facturación Automática</a:t>
            </a:r>
            <a:endParaRPr lang="en-US" sz="1100" dirty="0"/>
          </a:p>
        </p:txBody>
      </p:sp>
      <p:sp>
        <p:nvSpPr>
          <p:cNvPr id="21" name="Text 19"/>
          <p:cNvSpPr txBox="1"/>
          <p:nvPr/>
        </p:nvSpPr>
        <p:spPr>
          <a:xfrm>
            <a:off x="6995160" y="2834640"/>
            <a:ext cx="1645920" cy="1097280"/>
          </a:xfrm>
          <a:prstGeom prst="rect">
            <a:avLst/>
          </a:prstGeom>
          <a:noFill/>
          <a:ln/>
        </p:spPr>
        <p:txBody>
          <a:bodyPr wrap="square" lIns="0" tIns="0" rIns="0" bIns="0" rtlCol="0" anchor="ctr"/>
          <a:lstStyle/>
          <a:p>
            <a:pPr marL="0" indent="0" algn="ctr">
              <a:lnSpc>
                <a:spcPct val="130000"/>
              </a:lnSpc>
              <a:buNone/>
            </a:pPr>
            <a:r>
              <a:rPr lang="en-US" sz="900" dirty="0">
                <a:solidFill>
                  <a:srgbClr val="64748B"/>
                </a:solidFill>
                <a:latin typeface="Calibri" pitchFamily="34" charset="0"/>
                <a:ea typeface="Calibri" pitchFamily="34" charset="-122"/>
                <a:cs typeface="Calibri" pitchFamily="34" charset="-120"/>
              </a:rPr>
              <a:t>Cálculo automático por zona geográfica (urbana, extra-urbana, rural) con IVA incluido.</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p:spPr>
        <p:txBody>
          <a:bodyPr/>
          <a:lstStyle/>
          <a:p>
            <a:endParaRPr lang="es-CL"/>
          </a:p>
        </p:txBody>
      </p:sp>
      <p:sp>
        <p:nvSpPr>
          <p:cNvPr id="3" name="Text 1"/>
          <p:cNvSpPr txBox="1"/>
          <p:nvPr/>
        </p:nvSpPr>
        <p:spPr>
          <a:xfrm>
            <a:off x="548640" y="365760"/>
            <a:ext cx="3657600" cy="228600"/>
          </a:xfrm>
          <a:prstGeom prst="rect">
            <a:avLst/>
          </a:prstGeom>
          <a:noFill/>
          <a:ln/>
        </p:spPr>
        <p:txBody>
          <a:bodyPr wrap="square" lIns="0" tIns="0" rIns="0" bIns="0" rtlCol="0" anchor="ctr"/>
          <a:lstStyle/>
          <a:p>
            <a:pPr marL="0" indent="0">
              <a:buNone/>
            </a:pPr>
            <a:r>
              <a:rPr lang="en-US" sz="1000" b="1" dirty="0">
                <a:solidFill>
                  <a:srgbClr val="2563EB"/>
                </a:solidFill>
                <a:latin typeface="Calibri" pitchFamily="34" charset="0"/>
                <a:ea typeface="Calibri" pitchFamily="34" charset="-122"/>
                <a:cs typeface="Calibri" pitchFamily="34" charset="-120"/>
              </a:rPr>
              <a:t>01 · IMPACTO</a:t>
            </a:r>
            <a:endParaRPr lang="en-US" sz="1000" dirty="0"/>
          </a:p>
        </p:txBody>
      </p:sp>
      <p:sp>
        <p:nvSpPr>
          <p:cNvPr id="4" name="Text 2"/>
          <p:cNvSpPr txBox="1"/>
          <p:nvPr/>
        </p:nvSpPr>
        <p:spPr>
          <a:xfrm>
            <a:off x="548640" y="640080"/>
            <a:ext cx="7315200" cy="36576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Relevancia para el campo laboral</a:t>
            </a:r>
            <a:endParaRPr lang="en-US" sz="2200" dirty="0"/>
          </a:p>
        </p:txBody>
      </p:sp>
      <p:sp>
        <p:nvSpPr>
          <p:cNvPr id="5" name="Shape 3"/>
          <p:cNvSpPr/>
          <p:nvPr/>
        </p:nvSpPr>
        <p:spPr>
          <a:xfrm>
            <a:off x="548640" y="1188720"/>
            <a:ext cx="3840480" cy="2743200"/>
          </a:xfrm>
          <a:prstGeom prst="roundRect">
            <a:avLst>
              <a:gd name="adj" fmla="val 3333"/>
            </a:avLst>
          </a:prstGeom>
          <a:solidFill>
            <a:srgbClr val="FEF2F2"/>
          </a:solidFill>
          <a:ln/>
        </p:spPr>
        <p:txBody>
          <a:bodyPr/>
          <a:lstStyle/>
          <a:p>
            <a:endParaRPr lang="es-CL"/>
          </a:p>
        </p:txBody>
      </p:sp>
      <p:sp>
        <p:nvSpPr>
          <p:cNvPr id="6" name="Text 4"/>
          <p:cNvSpPr txBox="1"/>
          <p:nvPr/>
        </p:nvSpPr>
        <p:spPr>
          <a:xfrm>
            <a:off x="731520" y="1280160"/>
            <a:ext cx="3474720" cy="228600"/>
          </a:xfrm>
          <a:prstGeom prst="rect">
            <a:avLst/>
          </a:prstGeom>
          <a:noFill/>
          <a:ln/>
        </p:spPr>
        <p:txBody>
          <a:bodyPr wrap="square" lIns="0" tIns="0" rIns="0" bIns="0" rtlCol="0" anchor="ctr"/>
          <a:lstStyle/>
          <a:p>
            <a:pPr marL="0" indent="0">
              <a:buNone/>
            </a:pPr>
            <a:r>
              <a:rPr lang="en-US" sz="900" b="1" dirty="0">
                <a:solidFill>
                  <a:srgbClr val="EF4444"/>
                </a:solidFill>
                <a:latin typeface="Calibri" pitchFamily="34" charset="0"/>
                <a:ea typeface="Calibri" pitchFamily="34" charset="-122"/>
                <a:cs typeface="Calibri" pitchFamily="34" charset="-120"/>
              </a:rPr>
              <a:t>PROBLEMÁTICA</a:t>
            </a:r>
            <a:endParaRPr lang="en-US" sz="900" dirty="0"/>
          </a:p>
        </p:txBody>
      </p:sp>
      <p:sp>
        <p:nvSpPr>
          <p:cNvPr id="7" name="Text 5"/>
          <p:cNvSpPr txBox="1"/>
          <p:nvPr/>
        </p:nvSpPr>
        <p:spPr>
          <a:xfrm>
            <a:off x="731520" y="1600200"/>
            <a:ext cx="3474720" cy="640080"/>
          </a:xfrm>
          <a:prstGeom prst="rect">
            <a:avLst/>
          </a:prstGeom>
          <a:noFill/>
          <a:ln/>
        </p:spPr>
        <p:txBody>
          <a:bodyPr wrap="square" lIns="0" tIns="0" rIns="0" bIns="0" rtlCol="0" anchor="ctr"/>
          <a:lstStyle/>
          <a:p>
            <a:pPr marL="0" indent="0">
              <a:lnSpc>
                <a:spcPct val="130000"/>
              </a:lnSpc>
              <a:buNone/>
            </a:pPr>
            <a:r>
              <a:rPr lang="en-US" sz="1100" dirty="0">
                <a:solidFill>
                  <a:srgbClr val="334155"/>
                </a:solidFill>
                <a:latin typeface="Calibri" pitchFamily="34" charset="0"/>
                <a:ea typeface="Calibri" pitchFamily="34" charset="-122"/>
                <a:cs typeface="Calibri" pitchFamily="34" charset="-120"/>
              </a:rPr>
              <a:t>Las PyMEs chilenas que venden online carecen de herramientas centralizadas para gestionar despachos con múltiples operadores logísticos.</a:t>
            </a:r>
            <a:endParaRPr lang="en-US" sz="1100" dirty="0"/>
          </a:p>
        </p:txBody>
      </p:sp>
      <p:sp>
        <p:nvSpPr>
          <p:cNvPr id="8" name="Text 6"/>
          <p:cNvSpPr txBox="1"/>
          <p:nvPr/>
        </p:nvSpPr>
        <p:spPr>
          <a:xfrm>
            <a:off x="731520" y="2331720"/>
            <a:ext cx="3474720" cy="3200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  Sin visibilidad del estado real de cada pedido</a:t>
            </a:r>
            <a:endParaRPr lang="en-US" sz="1000" dirty="0"/>
          </a:p>
        </p:txBody>
      </p:sp>
      <p:sp>
        <p:nvSpPr>
          <p:cNvPr id="9" name="Text 7"/>
          <p:cNvSpPr txBox="1"/>
          <p:nvPr/>
        </p:nvSpPr>
        <p:spPr>
          <a:xfrm>
            <a:off x="731520" y="2679192"/>
            <a:ext cx="3474720" cy="3200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  Reclamos de clientes por falta de tracking</a:t>
            </a:r>
            <a:endParaRPr lang="en-US" sz="1000" dirty="0"/>
          </a:p>
        </p:txBody>
      </p:sp>
      <p:sp>
        <p:nvSpPr>
          <p:cNvPr id="10" name="Text 8"/>
          <p:cNvSpPr txBox="1"/>
          <p:nvPr/>
        </p:nvSpPr>
        <p:spPr>
          <a:xfrm>
            <a:off x="731520" y="3026664"/>
            <a:ext cx="3474720" cy="3200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  Facturación manual propensa a errores</a:t>
            </a:r>
            <a:endParaRPr lang="en-US" sz="1000" dirty="0"/>
          </a:p>
        </p:txBody>
      </p:sp>
      <p:sp>
        <p:nvSpPr>
          <p:cNvPr id="11" name="Text 9"/>
          <p:cNvSpPr txBox="1"/>
          <p:nvPr/>
        </p:nvSpPr>
        <p:spPr>
          <a:xfrm>
            <a:off x="731520" y="3374136"/>
            <a:ext cx="3474720" cy="3200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  Pedidos extraviados sin trazabilidad</a:t>
            </a:r>
            <a:endParaRPr lang="en-US" sz="1000" dirty="0"/>
          </a:p>
        </p:txBody>
      </p:sp>
      <p:sp>
        <p:nvSpPr>
          <p:cNvPr id="12" name="Shape 10"/>
          <p:cNvSpPr/>
          <p:nvPr/>
        </p:nvSpPr>
        <p:spPr>
          <a:xfrm>
            <a:off x="4754880" y="1188720"/>
            <a:ext cx="3840480" cy="2743200"/>
          </a:xfrm>
          <a:prstGeom prst="roundRect">
            <a:avLst>
              <a:gd name="adj" fmla="val 3333"/>
            </a:avLst>
          </a:prstGeom>
          <a:solidFill>
            <a:srgbClr val="EFF6FF"/>
          </a:solidFill>
          <a:ln/>
        </p:spPr>
        <p:txBody>
          <a:bodyPr/>
          <a:lstStyle/>
          <a:p>
            <a:endParaRPr lang="es-CL"/>
          </a:p>
        </p:txBody>
      </p:sp>
      <p:sp>
        <p:nvSpPr>
          <p:cNvPr id="13" name="Text 11"/>
          <p:cNvSpPr txBox="1"/>
          <p:nvPr/>
        </p:nvSpPr>
        <p:spPr>
          <a:xfrm>
            <a:off x="4937760" y="1280160"/>
            <a:ext cx="3474720" cy="228600"/>
          </a:xfrm>
          <a:prstGeom prst="rect">
            <a:avLst/>
          </a:prstGeom>
          <a:noFill/>
          <a:ln/>
        </p:spPr>
        <p:txBody>
          <a:bodyPr wrap="square" lIns="0" tIns="0" rIns="0" bIns="0" rtlCol="0" anchor="ctr"/>
          <a:lstStyle/>
          <a:p>
            <a:pPr marL="0" indent="0">
              <a:buNone/>
            </a:pPr>
            <a:r>
              <a:rPr lang="en-US" sz="900" b="1" dirty="0">
                <a:solidFill>
                  <a:srgbClr val="2563EB"/>
                </a:solidFill>
                <a:latin typeface="Calibri" pitchFamily="34" charset="0"/>
                <a:ea typeface="Calibri" pitchFamily="34" charset="-122"/>
                <a:cs typeface="Calibri" pitchFamily="34" charset="-120"/>
              </a:rPr>
              <a:t>SOLUCIÓN MOOVEX</a:t>
            </a:r>
            <a:endParaRPr lang="en-US" sz="900" dirty="0"/>
          </a:p>
        </p:txBody>
      </p:sp>
      <p:sp>
        <p:nvSpPr>
          <p:cNvPr id="14" name="Text 12"/>
          <p:cNvSpPr txBox="1"/>
          <p:nvPr/>
        </p:nvSpPr>
        <p:spPr>
          <a:xfrm>
            <a:off x="4937760" y="1600200"/>
            <a:ext cx="3474720" cy="640080"/>
          </a:xfrm>
          <a:prstGeom prst="rect">
            <a:avLst/>
          </a:prstGeom>
          <a:noFill/>
          <a:ln/>
        </p:spPr>
        <p:txBody>
          <a:bodyPr wrap="square" lIns="0" tIns="0" rIns="0" bIns="0" rtlCol="0" anchor="ctr"/>
          <a:lstStyle/>
          <a:p>
            <a:pPr marL="0" indent="0">
              <a:lnSpc>
                <a:spcPct val="130000"/>
              </a:lnSpc>
              <a:buNone/>
            </a:pPr>
            <a:r>
              <a:rPr lang="en-US" sz="1100" dirty="0">
                <a:solidFill>
                  <a:srgbClr val="334155"/>
                </a:solidFill>
                <a:latin typeface="Calibri" pitchFamily="34" charset="0"/>
                <a:ea typeface="Calibri" pitchFamily="34" charset="-122"/>
                <a:cs typeface="Calibri" pitchFamily="34" charset="-120"/>
              </a:rPr>
              <a:t>Una plataforma que centraliza tiendas, operadores, estados, evidencia de entrega y facturación en un solo sistema.</a:t>
            </a:r>
            <a:endParaRPr lang="en-US" sz="1100" dirty="0"/>
          </a:p>
        </p:txBody>
      </p:sp>
      <p:sp>
        <p:nvSpPr>
          <p:cNvPr id="15" name="Text 13"/>
          <p:cNvSpPr txBox="1"/>
          <p:nvPr/>
        </p:nvSpPr>
        <p:spPr>
          <a:xfrm>
            <a:off x="4937760" y="2331720"/>
            <a:ext cx="3474720" cy="3200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  Tracking en tiempo real vía webhooks</a:t>
            </a:r>
            <a:endParaRPr lang="en-US" sz="1000" dirty="0"/>
          </a:p>
        </p:txBody>
      </p:sp>
      <p:sp>
        <p:nvSpPr>
          <p:cNvPr id="16" name="Text 14"/>
          <p:cNvSpPr txBox="1"/>
          <p:nvPr/>
        </p:nvSpPr>
        <p:spPr>
          <a:xfrm>
            <a:off x="4937760" y="2679192"/>
            <a:ext cx="3474720" cy="3200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  Evidencia fotográfica de cada entrega</a:t>
            </a:r>
            <a:endParaRPr lang="en-US" sz="1000" dirty="0"/>
          </a:p>
        </p:txBody>
      </p:sp>
      <p:sp>
        <p:nvSpPr>
          <p:cNvPr id="17" name="Text 15"/>
          <p:cNvSpPr txBox="1"/>
          <p:nvPr/>
        </p:nvSpPr>
        <p:spPr>
          <a:xfrm>
            <a:off x="4937760" y="3026664"/>
            <a:ext cx="3474720" cy="3200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  Facturación automática por zona y tienda</a:t>
            </a:r>
            <a:endParaRPr lang="en-US" sz="1000" dirty="0"/>
          </a:p>
        </p:txBody>
      </p:sp>
      <p:sp>
        <p:nvSpPr>
          <p:cNvPr id="18" name="Text 16"/>
          <p:cNvSpPr txBox="1"/>
          <p:nvPr/>
        </p:nvSpPr>
        <p:spPr>
          <a:xfrm>
            <a:off x="4937760" y="3374136"/>
            <a:ext cx="3474720" cy="3200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  Integración bidireccional con operadores</a:t>
            </a:r>
            <a:endParaRPr lang="en-US" sz="1000" dirty="0"/>
          </a:p>
        </p:txBody>
      </p:sp>
      <p:sp>
        <p:nvSpPr>
          <p:cNvPr id="19" name="Shape 17"/>
          <p:cNvSpPr/>
          <p:nvPr/>
        </p:nvSpPr>
        <p:spPr>
          <a:xfrm>
            <a:off x="548640" y="4114800"/>
            <a:ext cx="2011680" cy="502920"/>
          </a:xfrm>
          <a:prstGeom prst="roundRect">
            <a:avLst>
              <a:gd name="adj" fmla="val 10909"/>
            </a:avLst>
          </a:prstGeom>
          <a:solidFill>
            <a:srgbClr val="F1F5F9"/>
          </a:solidFill>
          <a:ln/>
        </p:spPr>
        <p:txBody>
          <a:bodyPr/>
          <a:lstStyle/>
          <a:p>
            <a:endParaRPr lang="es-CL"/>
          </a:p>
        </p:txBody>
      </p:sp>
      <p:sp>
        <p:nvSpPr>
          <p:cNvPr id="20" name="Text 18"/>
          <p:cNvSpPr txBox="1"/>
          <p:nvPr/>
        </p:nvSpPr>
        <p:spPr>
          <a:xfrm>
            <a:off x="548640" y="4114800"/>
            <a:ext cx="1005840" cy="502920"/>
          </a:xfrm>
          <a:prstGeom prst="rect">
            <a:avLst/>
          </a:prstGeom>
          <a:noFill/>
          <a:ln/>
        </p:spPr>
        <p:txBody>
          <a:bodyPr wrap="square" lIns="0" tIns="0" rIns="0" bIns="0" rtlCol="0" anchor="ctr"/>
          <a:lstStyle/>
          <a:p>
            <a:pPr marL="0" indent="0" algn="ctr">
              <a:buNone/>
            </a:pPr>
            <a:r>
              <a:rPr lang="en-US" sz="1600" b="1" dirty="0">
                <a:solidFill>
                  <a:srgbClr val="2563EB"/>
                </a:solidFill>
                <a:latin typeface="Calibri" pitchFamily="34" charset="0"/>
                <a:ea typeface="Calibri" pitchFamily="34" charset="-122"/>
                <a:cs typeface="Calibri" pitchFamily="34" charset="-120"/>
              </a:rPr>
              <a:t>Escalable</a:t>
            </a:r>
            <a:endParaRPr lang="en-US" sz="1600" dirty="0"/>
          </a:p>
        </p:txBody>
      </p:sp>
      <p:sp>
        <p:nvSpPr>
          <p:cNvPr id="21" name="Text 19"/>
          <p:cNvSpPr txBox="1"/>
          <p:nvPr/>
        </p:nvSpPr>
        <p:spPr>
          <a:xfrm>
            <a:off x="1554480" y="4114800"/>
            <a:ext cx="1005840" cy="5029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Gestiona muchos pedidos</a:t>
            </a:r>
            <a:endParaRPr lang="en-US" sz="900" dirty="0"/>
          </a:p>
        </p:txBody>
      </p:sp>
      <p:sp>
        <p:nvSpPr>
          <p:cNvPr id="22" name="Shape 20"/>
          <p:cNvSpPr/>
          <p:nvPr/>
        </p:nvSpPr>
        <p:spPr>
          <a:xfrm>
            <a:off x="2743200" y="4114800"/>
            <a:ext cx="2011680" cy="502920"/>
          </a:xfrm>
          <a:prstGeom prst="roundRect">
            <a:avLst>
              <a:gd name="adj" fmla="val 10909"/>
            </a:avLst>
          </a:prstGeom>
          <a:solidFill>
            <a:srgbClr val="F1F5F9"/>
          </a:solidFill>
          <a:ln/>
        </p:spPr>
        <p:txBody>
          <a:bodyPr/>
          <a:lstStyle/>
          <a:p>
            <a:endParaRPr lang="es-CL"/>
          </a:p>
        </p:txBody>
      </p:sp>
      <p:sp>
        <p:nvSpPr>
          <p:cNvPr id="23" name="Text 21"/>
          <p:cNvSpPr txBox="1"/>
          <p:nvPr/>
        </p:nvSpPr>
        <p:spPr>
          <a:xfrm>
            <a:off x="2743200" y="4114800"/>
            <a:ext cx="1005840" cy="502920"/>
          </a:xfrm>
          <a:prstGeom prst="rect">
            <a:avLst/>
          </a:prstGeom>
          <a:noFill/>
          <a:ln/>
        </p:spPr>
        <p:txBody>
          <a:bodyPr wrap="square" lIns="0" tIns="0" rIns="0" bIns="0" rtlCol="0" anchor="ctr"/>
          <a:lstStyle/>
          <a:p>
            <a:pPr marL="0" indent="0" algn="ctr">
              <a:buNone/>
            </a:pPr>
            <a:r>
              <a:rPr lang="en-US" sz="1600" b="1" dirty="0">
                <a:solidFill>
                  <a:srgbClr val="10B981"/>
                </a:solidFill>
                <a:latin typeface="Calibri" pitchFamily="34" charset="0"/>
                <a:ea typeface="Calibri" pitchFamily="34" charset="-122"/>
                <a:cs typeface="Calibri" pitchFamily="34" charset="-120"/>
              </a:rPr>
              <a:t>Flexible</a:t>
            </a:r>
            <a:endParaRPr lang="en-US" sz="1600" dirty="0"/>
          </a:p>
        </p:txBody>
      </p:sp>
      <p:sp>
        <p:nvSpPr>
          <p:cNvPr id="24" name="Text 22"/>
          <p:cNvSpPr txBox="1"/>
          <p:nvPr/>
        </p:nvSpPr>
        <p:spPr>
          <a:xfrm>
            <a:off x="3749040" y="4114800"/>
            <a:ext cx="1005840" cy="5029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Cualquier tienda se integra</a:t>
            </a:r>
            <a:endParaRPr lang="en-US" sz="900" dirty="0"/>
          </a:p>
        </p:txBody>
      </p:sp>
      <p:sp>
        <p:nvSpPr>
          <p:cNvPr id="25" name="Shape 23"/>
          <p:cNvSpPr/>
          <p:nvPr/>
        </p:nvSpPr>
        <p:spPr>
          <a:xfrm>
            <a:off x="4937760" y="4114800"/>
            <a:ext cx="2011680" cy="502920"/>
          </a:xfrm>
          <a:prstGeom prst="roundRect">
            <a:avLst>
              <a:gd name="adj" fmla="val 10909"/>
            </a:avLst>
          </a:prstGeom>
          <a:solidFill>
            <a:srgbClr val="F1F5F9"/>
          </a:solidFill>
          <a:ln/>
        </p:spPr>
        <p:txBody>
          <a:bodyPr/>
          <a:lstStyle/>
          <a:p>
            <a:endParaRPr lang="es-CL"/>
          </a:p>
        </p:txBody>
      </p:sp>
      <p:sp>
        <p:nvSpPr>
          <p:cNvPr id="26" name="Text 24"/>
          <p:cNvSpPr txBox="1"/>
          <p:nvPr/>
        </p:nvSpPr>
        <p:spPr>
          <a:xfrm>
            <a:off x="4937760" y="4114800"/>
            <a:ext cx="1005840" cy="502920"/>
          </a:xfrm>
          <a:prstGeom prst="rect">
            <a:avLst/>
          </a:prstGeom>
          <a:noFill/>
          <a:ln/>
        </p:spPr>
        <p:txBody>
          <a:bodyPr wrap="square" lIns="0" tIns="0" rIns="0" bIns="0" rtlCol="0" anchor="ctr"/>
          <a:lstStyle/>
          <a:p>
            <a:pPr marL="0" indent="0" algn="ctr">
              <a:buNone/>
            </a:pPr>
            <a:r>
              <a:rPr lang="en-US" sz="1600" b="1" dirty="0">
                <a:solidFill>
                  <a:srgbClr val="F59E0B"/>
                </a:solidFill>
                <a:latin typeface="Calibri" pitchFamily="34" charset="0"/>
                <a:ea typeface="Calibri" pitchFamily="34" charset="-122"/>
                <a:cs typeface="Calibri" pitchFamily="34" charset="-120"/>
              </a:rPr>
              <a:t>Abierto</a:t>
            </a:r>
            <a:endParaRPr lang="en-US" sz="1600" dirty="0"/>
          </a:p>
        </p:txBody>
      </p:sp>
      <p:sp>
        <p:nvSpPr>
          <p:cNvPr id="27" name="Text 25"/>
          <p:cNvSpPr txBox="1"/>
          <p:nvPr/>
        </p:nvSpPr>
        <p:spPr>
          <a:xfrm>
            <a:off x="5943600" y="4114800"/>
            <a:ext cx="1005840" cy="5029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Cualquier operador se conecta</a:t>
            </a:r>
            <a:endParaRPr lang="en-US" sz="900" dirty="0"/>
          </a:p>
        </p:txBody>
      </p:sp>
      <p:sp>
        <p:nvSpPr>
          <p:cNvPr id="28" name="Shape 26"/>
          <p:cNvSpPr/>
          <p:nvPr/>
        </p:nvSpPr>
        <p:spPr>
          <a:xfrm>
            <a:off x="7132320" y="4114800"/>
            <a:ext cx="2011680" cy="502920"/>
          </a:xfrm>
          <a:prstGeom prst="roundRect">
            <a:avLst>
              <a:gd name="adj" fmla="val 10909"/>
            </a:avLst>
          </a:prstGeom>
          <a:solidFill>
            <a:srgbClr val="F1F5F9"/>
          </a:solidFill>
          <a:ln/>
        </p:spPr>
        <p:txBody>
          <a:bodyPr/>
          <a:lstStyle/>
          <a:p>
            <a:endParaRPr lang="es-CL"/>
          </a:p>
        </p:txBody>
      </p:sp>
      <p:sp>
        <p:nvSpPr>
          <p:cNvPr id="29" name="Text 27"/>
          <p:cNvSpPr txBox="1"/>
          <p:nvPr/>
        </p:nvSpPr>
        <p:spPr>
          <a:xfrm>
            <a:off x="7132320" y="4114800"/>
            <a:ext cx="1005840" cy="502920"/>
          </a:xfrm>
          <a:prstGeom prst="rect">
            <a:avLst/>
          </a:prstGeom>
          <a:noFill/>
          <a:ln/>
        </p:spPr>
        <p:txBody>
          <a:bodyPr wrap="square" lIns="0" tIns="0" rIns="0" bIns="0" rtlCol="0" anchor="ctr"/>
          <a:lstStyle/>
          <a:p>
            <a:pPr marL="0" indent="0" algn="ctr">
              <a:buNone/>
            </a:pPr>
            <a:r>
              <a:rPr lang="en-US" sz="1600" b="1" dirty="0">
                <a:solidFill>
                  <a:srgbClr val="06B6D4"/>
                </a:solidFill>
                <a:latin typeface="Calibri" pitchFamily="34" charset="0"/>
                <a:ea typeface="Calibri" pitchFamily="34" charset="-122"/>
                <a:cs typeface="Calibri" pitchFamily="34" charset="-120"/>
              </a:rPr>
              <a:t>24/7</a:t>
            </a:r>
            <a:endParaRPr lang="en-US" sz="1600" dirty="0"/>
          </a:p>
        </p:txBody>
      </p:sp>
      <p:sp>
        <p:nvSpPr>
          <p:cNvPr id="30" name="Text 28"/>
          <p:cNvSpPr txBox="1"/>
          <p:nvPr/>
        </p:nvSpPr>
        <p:spPr>
          <a:xfrm>
            <a:off x="8138160" y="4114800"/>
            <a:ext cx="1005840" cy="5029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Operación continua</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p:spPr>
        <p:txBody>
          <a:bodyPr/>
          <a:lstStyle/>
          <a:p>
            <a:endParaRPr lang="es-CL"/>
          </a:p>
        </p:txBody>
      </p:sp>
      <p:sp>
        <p:nvSpPr>
          <p:cNvPr id="3" name="Text 1"/>
          <p:cNvSpPr txBox="1"/>
          <p:nvPr/>
        </p:nvSpPr>
        <p:spPr>
          <a:xfrm>
            <a:off x="548640" y="365760"/>
            <a:ext cx="4572000" cy="228600"/>
          </a:xfrm>
          <a:prstGeom prst="rect">
            <a:avLst/>
          </a:prstGeom>
          <a:noFill/>
          <a:ln/>
        </p:spPr>
        <p:txBody>
          <a:bodyPr wrap="square" lIns="0" tIns="0" rIns="0" bIns="0" rtlCol="0" anchor="ctr"/>
          <a:lstStyle/>
          <a:p>
            <a:pPr marL="0" indent="0">
              <a:buNone/>
            </a:pPr>
            <a:r>
              <a:rPr lang="en-US" sz="1000" b="1" dirty="0">
                <a:solidFill>
                  <a:srgbClr val="2563EB"/>
                </a:solidFill>
                <a:latin typeface="Calibri" pitchFamily="34" charset="0"/>
                <a:ea typeface="Calibri" pitchFamily="34" charset="-122"/>
                <a:cs typeface="Calibri" pitchFamily="34" charset="-120"/>
              </a:rPr>
              <a:t>02 · COMPETENCIAS</a:t>
            </a:r>
            <a:endParaRPr lang="en-US" sz="1000" dirty="0"/>
          </a:p>
        </p:txBody>
      </p:sp>
      <p:sp>
        <p:nvSpPr>
          <p:cNvPr id="4" name="Text 2"/>
          <p:cNvSpPr txBox="1"/>
          <p:nvPr/>
        </p:nvSpPr>
        <p:spPr>
          <a:xfrm>
            <a:off x="548640" y="640080"/>
            <a:ext cx="7315200" cy="36576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Perfil de Egreso</a:t>
            </a:r>
            <a:endParaRPr lang="en-US" sz="2200" dirty="0"/>
          </a:p>
        </p:txBody>
      </p:sp>
      <p:sp>
        <p:nvSpPr>
          <p:cNvPr id="5" name="Shape 3"/>
          <p:cNvSpPr/>
          <p:nvPr/>
        </p:nvSpPr>
        <p:spPr>
          <a:xfrm>
            <a:off x="548640" y="1143000"/>
            <a:ext cx="8046720" cy="749808"/>
          </a:xfrm>
          <a:prstGeom prst="roundRect">
            <a:avLst>
              <a:gd name="adj" fmla="val 9756"/>
            </a:avLst>
          </a:prstGeom>
          <a:solidFill>
            <a:srgbClr val="F1F5F9"/>
          </a:solidFill>
          <a:ln/>
        </p:spPr>
        <p:txBody>
          <a:bodyPr/>
          <a:lstStyle/>
          <a:p>
            <a:endParaRPr lang="es-CL"/>
          </a:p>
        </p:txBody>
      </p:sp>
      <p:sp>
        <p:nvSpPr>
          <p:cNvPr id="6" name="Shape 4"/>
          <p:cNvSpPr/>
          <p:nvPr/>
        </p:nvSpPr>
        <p:spPr>
          <a:xfrm>
            <a:off x="548640" y="1143000"/>
            <a:ext cx="45720" cy="749808"/>
          </a:xfrm>
          <a:prstGeom prst="rect">
            <a:avLst/>
          </a:prstGeom>
          <a:solidFill>
            <a:srgbClr val="2563EB"/>
          </a:solidFill>
          <a:ln/>
        </p:spPr>
        <p:txBody>
          <a:bodyPr/>
          <a:lstStyle/>
          <a:p>
            <a:endParaRPr lang="es-CL"/>
          </a:p>
        </p:txBody>
      </p:sp>
      <p:sp>
        <p:nvSpPr>
          <p:cNvPr id="7" name="Text 5"/>
          <p:cNvSpPr txBox="1"/>
          <p:nvPr/>
        </p:nvSpPr>
        <p:spPr>
          <a:xfrm>
            <a:off x="777240" y="1216152"/>
            <a:ext cx="7589520" cy="274320"/>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Desarrollar soluciones de software</a:t>
            </a:r>
            <a:endParaRPr lang="en-US" sz="1200" dirty="0"/>
          </a:p>
        </p:txBody>
      </p:sp>
      <p:sp>
        <p:nvSpPr>
          <p:cNvPr id="8" name="Text 6"/>
          <p:cNvSpPr txBox="1"/>
          <p:nvPr/>
        </p:nvSpPr>
        <p:spPr>
          <a:xfrm>
            <a:off x="777240" y="1508760"/>
            <a:ext cx="7589520" cy="3200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Sistema full stack con Next.js 14, TypeScript y Prisma ORM. Arquitectura de webhooks bidireccionales, crons de respaldo y APIs REST.</a:t>
            </a:r>
            <a:endParaRPr lang="en-US" sz="1000" dirty="0"/>
          </a:p>
        </p:txBody>
      </p:sp>
      <p:sp>
        <p:nvSpPr>
          <p:cNvPr id="9" name="Shape 7"/>
          <p:cNvSpPr/>
          <p:nvPr/>
        </p:nvSpPr>
        <p:spPr>
          <a:xfrm>
            <a:off x="548640" y="2011680"/>
            <a:ext cx="8046720" cy="749808"/>
          </a:xfrm>
          <a:prstGeom prst="roundRect">
            <a:avLst>
              <a:gd name="adj" fmla="val 9756"/>
            </a:avLst>
          </a:prstGeom>
          <a:solidFill>
            <a:srgbClr val="F1F5F9"/>
          </a:solidFill>
          <a:ln/>
        </p:spPr>
        <p:txBody>
          <a:bodyPr/>
          <a:lstStyle/>
          <a:p>
            <a:endParaRPr lang="es-CL"/>
          </a:p>
        </p:txBody>
      </p:sp>
      <p:sp>
        <p:nvSpPr>
          <p:cNvPr id="10" name="Shape 8"/>
          <p:cNvSpPr/>
          <p:nvPr/>
        </p:nvSpPr>
        <p:spPr>
          <a:xfrm>
            <a:off x="548640" y="2011680"/>
            <a:ext cx="45720" cy="749808"/>
          </a:xfrm>
          <a:prstGeom prst="rect">
            <a:avLst/>
          </a:prstGeom>
          <a:solidFill>
            <a:srgbClr val="10B981"/>
          </a:solidFill>
          <a:ln/>
        </p:spPr>
        <p:txBody>
          <a:bodyPr/>
          <a:lstStyle/>
          <a:p>
            <a:endParaRPr lang="es-CL"/>
          </a:p>
        </p:txBody>
      </p:sp>
      <p:sp>
        <p:nvSpPr>
          <p:cNvPr id="11" name="Text 9"/>
          <p:cNvSpPr txBox="1"/>
          <p:nvPr/>
        </p:nvSpPr>
        <p:spPr>
          <a:xfrm>
            <a:off x="777240" y="2084832"/>
            <a:ext cx="7589520" cy="274320"/>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Construir modelos de datos escalables</a:t>
            </a:r>
            <a:endParaRPr lang="en-US" sz="1200" dirty="0"/>
          </a:p>
        </p:txBody>
      </p:sp>
      <p:sp>
        <p:nvSpPr>
          <p:cNvPr id="12" name="Text 10"/>
          <p:cNvSpPr txBox="1"/>
          <p:nvPr/>
        </p:nvSpPr>
        <p:spPr>
          <a:xfrm>
            <a:off x="777240" y="2377440"/>
            <a:ext cx="7589520" cy="3200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Base de datos relacional PostgreSQL con Supabase: órdenes, tiendas, eventos, integraciones. Diseño escalable con +10.000 registros.</a:t>
            </a:r>
            <a:endParaRPr lang="en-US" sz="1000" dirty="0"/>
          </a:p>
        </p:txBody>
      </p:sp>
      <p:sp>
        <p:nvSpPr>
          <p:cNvPr id="13" name="Shape 11"/>
          <p:cNvSpPr/>
          <p:nvPr/>
        </p:nvSpPr>
        <p:spPr>
          <a:xfrm>
            <a:off x="548640" y="2880360"/>
            <a:ext cx="8046720" cy="749808"/>
          </a:xfrm>
          <a:prstGeom prst="roundRect">
            <a:avLst>
              <a:gd name="adj" fmla="val 9756"/>
            </a:avLst>
          </a:prstGeom>
          <a:solidFill>
            <a:srgbClr val="F1F5F9"/>
          </a:solidFill>
          <a:ln/>
        </p:spPr>
        <p:txBody>
          <a:bodyPr/>
          <a:lstStyle/>
          <a:p>
            <a:endParaRPr lang="es-CL"/>
          </a:p>
        </p:txBody>
      </p:sp>
      <p:sp>
        <p:nvSpPr>
          <p:cNvPr id="14" name="Shape 12"/>
          <p:cNvSpPr/>
          <p:nvPr/>
        </p:nvSpPr>
        <p:spPr>
          <a:xfrm>
            <a:off x="548640" y="2880360"/>
            <a:ext cx="45720" cy="749808"/>
          </a:xfrm>
          <a:prstGeom prst="rect">
            <a:avLst/>
          </a:prstGeom>
          <a:solidFill>
            <a:srgbClr val="F59E0B"/>
          </a:solidFill>
          <a:ln/>
        </p:spPr>
        <p:txBody>
          <a:bodyPr/>
          <a:lstStyle/>
          <a:p>
            <a:endParaRPr lang="es-CL"/>
          </a:p>
        </p:txBody>
      </p:sp>
      <p:sp>
        <p:nvSpPr>
          <p:cNvPr id="15" name="Text 13"/>
          <p:cNvSpPr txBox="1"/>
          <p:nvPr/>
        </p:nvSpPr>
        <p:spPr>
          <a:xfrm>
            <a:off x="777240" y="2953512"/>
            <a:ext cx="7589520" cy="274320"/>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Gestionar proyectos informáticos</a:t>
            </a:r>
            <a:endParaRPr lang="en-US" sz="1200" dirty="0"/>
          </a:p>
        </p:txBody>
      </p:sp>
      <p:sp>
        <p:nvSpPr>
          <p:cNvPr id="16" name="Text 14"/>
          <p:cNvSpPr txBox="1"/>
          <p:nvPr/>
        </p:nvSpPr>
        <p:spPr>
          <a:xfrm>
            <a:off x="777240" y="3246120"/>
            <a:ext cx="7589520" cy="3200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Desarrollo iterativo con clientes reales, priorización por impacto operacional, deploy continuo y monitoreo en producción.</a:t>
            </a:r>
            <a:endParaRPr lang="en-US" sz="1000" dirty="0"/>
          </a:p>
        </p:txBody>
      </p:sp>
      <p:sp>
        <p:nvSpPr>
          <p:cNvPr id="17" name="Shape 15"/>
          <p:cNvSpPr/>
          <p:nvPr/>
        </p:nvSpPr>
        <p:spPr>
          <a:xfrm>
            <a:off x="548640" y="3749040"/>
            <a:ext cx="8046720" cy="749808"/>
          </a:xfrm>
          <a:prstGeom prst="roundRect">
            <a:avLst>
              <a:gd name="adj" fmla="val 9756"/>
            </a:avLst>
          </a:prstGeom>
          <a:solidFill>
            <a:srgbClr val="F1F5F9"/>
          </a:solidFill>
          <a:ln/>
        </p:spPr>
        <p:txBody>
          <a:bodyPr/>
          <a:lstStyle/>
          <a:p>
            <a:endParaRPr lang="es-CL"/>
          </a:p>
        </p:txBody>
      </p:sp>
      <p:sp>
        <p:nvSpPr>
          <p:cNvPr id="18" name="Shape 16"/>
          <p:cNvSpPr/>
          <p:nvPr/>
        </p:nvSpPr>
        <p:spPr>
          <a:xfrm>
            <a:off x="548640" y="3749040"/>
            <a:ext cx="45720" cy="749808"/>
          </a:xfrm>
          <a:prstGeom prst="rect">
            <a:avLst/>
          </a:prstGeom>
          <a:solidFill>
            <a:srgbClr val="8B5CF6"/>
          </a:solidFill>
          <a:ln/>
        </p:spPr>
        <p:txBody>
          <a:bodyPr/>
          <a:lstStyle/>
          <a:p>
            <a:endParaRPr lang="es-CL"/>
          </a:p>
        </p:txBody>
      </p:sp>
      <p:sp>
        <p:nvSpPr>
          <p:cNvPr id="19" name="Text 17"/>
          <p:cNvSpPr txBox="1"/>
          <p:nvPr/>
        </p:nvSpPr>
        <p:spPr>
          <a:xfrm>
            <a:off x="777240" y="3822192"/>
            <a:ext cx="7589520" cy="274320"/>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Realizar pruebas de validación</a:t>
            </a:r>
            <a:endParaRPr lang="en-US" sz="1200" dirty="0"/>
          </a:p>
        </p:txBody>
      </p:sp>
      <p:sp>
        <p:nvSpPr>
          <p:cNvPr id="20" name="Text 18"/>
          <p:cNvSpPr txBox="1"/>
          <p:nvPr/>
        </p:nvSpPr>
        <p:spPr>
          <a:xfrm>
            <a:off x="777240" y="4114800"/>
            <a:ext cx="7589520" cy="3200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Validación con datos reales en producción, logs estructurados, reintentos automáticos en webhooks y manejo robusto de errores.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p:spPr>
        <p:txBody>
          <a:bodyPr/>
          <a:lstStyle/>
          <a:p>
            <a:endParaRPr lang="es-CL"/>
          </a:p>
        </p:txBody>
      </p:sp>
      <p:sp>
        <p:nvSpPr>
          <p:cNvPr id="3" name="Text 1"/>
          <p:cNvSpPr txBox="1"/>
          <p:nvPr/>
        </p:nvSpPr>
        <p:spPr>
          <a:xfrm>
            <a:off x="548640" y="365760"/>
            <a:ext cx="3657600" cy="228600"/>
          </a:xfrm>
          <a:prstGeom prst="rect">
            <a:avLst/>
          </a:prstGeom>
          <a:noFill/>
          <a:ln/>
        </p:spPr>
        <p:txBody>
          <a:bodyPr wrap="square" lIns="0" tIns="0" rIns="0" bIns="0" rtlCol="0" anchor="ctr"/>
          <a:lstStyle/>
          <a:p>
            <a:pPr marL="0" indent="0">
              <a:buNone/>
            </a:pPr>
            <a:r>
              <a:rPr lang="en-US" sz="1000" b="1" dirty="0">
                <a:solidFill>
                  <a:srgbClr val="2563EB"/>
                </a:solidFill>
                <a:latin typeface="Calibri" pitchFamily="34" charset="0"/>
                <a:ea typeface="Calibri" pitchFamily="34" charset="-122"/>
                <a:cs typeface="Calibri" pitchFamily="34" charset="-120"/>
              </a:rPr>
              <a:t>02 · INTERESES</a:t>
            </a:r>
            <a:endParaRPr lang="en-US" sz="1000" dirty="0"/>
          </a:p>
        </p:txBody>
      </p:sp>
      <p:sp>
        <p:nvSpPr>
          <p:cNvPr id="4" name="Text 2"/>
          <p:cNvSpPr txBox="1"/>
          <p:nvPr/>
        </p:nvSpPr>
        <p:spPr>
          <a:xfrm>
            <a:off x="548640" y="640080"/>
            <a:ext cx="7315200" cy="36576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Conexión con intereses profesionales</a:t>
            </a:r>
            <a:endParaRPr lang="en-US" sz="2200" dirty="0"/>
          </a:p>
        </p:txBody>
      </p:sp>
      <p:sp>
        <p:nvSpPr>
          <p:cNvPr id="5" name="Shape 3"/>
          <p:cNvSpPr/>
          <p:nvPr/>
        </p:nvSpPr>
        <p:spPr>
          <a:xfrm>
            <a:off x="548640" y="1234440"/>
            <a:ext cx="8046720" cy="960120"/>
          </a:xfrm>
          <a:prstGeom prst="roundRect">
            <a:avLst>
              <a:gd name="adj" fmla="val 9524"/>
            </a:avLst>
          </a:prstGeom>
          <a:solidFill>
            <a:srgbClr val="F1F5F9"/>
          </a:solidFill>
          <a:ln/>
        </p:spPr>
        <p:txBody>
          <a:bodyPr/>
          <a:lstStyle/>
          <a:p>
            <a:endParaRPr lang="es-CL"/>
          </a:p>
        </p:txBody>
      </p:sp>
      <p:sp>
        <p:nvSpPr>
          <p:cNvPr id="6" name="Text 4"/>
          <p:cNvSpPr txBox="1"/>
          <p:nvPr/>
        </p:nvSpPr>
        <p:spPr>
          <a:xfrm>
            <a:off x="731520" y="1371600"/>
            <a:ext cx="548640" cy="457200"/>
          </a:xfrm>
          <a:prstGeom prst="rect">
            <a:avLst/>
          </a:prstGeom>
          <a:noFill/>
          <a:ln/>
        </p:spPr>
        <p:txBody>
          <a:bodyPr wrap="square" lIns="0" tIns="0" rIns="0" bIns="0" rtlCol="0" anchor="ctr"/>
          <a:lstStyle/>
          <a:p>
            <a:pPr marL="0" indent="0">
              <a:buNone/>
            </a:pPr>
            <a:r>
              <a:rPr lang="en-US" sz="2400" dirty="0">
                <a:solidFill>
                  <a:srgbClr val="000000"/>
                </a:solidFill>
              </a:rPr>
              <a:t>🚀</a:t>
            </a:r>
            <a:endParaRPr lang="en-US" sz="2400" dirty="0"/>
          </a:p>
        </p:txBody>
      </p:sp>
      <p:sp>
        <p:nvSpPr>
          <p:cNvPr id="7" name="Text 5"/>
          <p:cNvSpPr txBox="1"/>
          <p:nvPr/>
        </p:nvSpPr>
        <p:spPr>
          <a:xfrm>
            <a:off x="1371600" y="1325880"/>
            <a:ext cx="7040880" cy="27432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Desarrollo de Productos SaaS</a:t>
            </a:r>
            <a:endParaRPr lang="en-US" sz="1300" dirty="0"/>
          </a:p>
        </p:txBody>
      </p:sp>
      <p:sp>
        <p:nvSpPr>
          <p:cNvPr id="8" name="Text 6"/>
          <p:cNvSpPr txBox="1"/>
          <p:nvPr/>
        </p:nvSpPr>
        <p:spPr>
          <a:xfrm>
            <a:off x="1371600" y="1645920"/>
            <a:ext cx="7040880" cy="457200"/>
          </a:xfrm>
          <a:prstGeom prst="rect">
            <a:avLst/>
          </a:prstGeom>
          <a:noFill/>
          <a:ln/>
        </p:spPr>
        <p:txBody>
          <a:bodyPr wrap="square" lIns="0" tIns="0" rIns="0" bIns="0" rtlCol="0" anchor="ctr"/>
          <a:lstStyle/>
          <a:p>
            <a:pPr marL="0" indent="0">
              <a:lnSpc>
                <a:spcPct val="130000"/>
              </a:lnSpc>
              <a:buNone/>
            </a:pPr>
            <a:r>
              <a:rPr lang="en-US" sz="1000" dirty="0">
                <a:solidFill>
                  <a:srgbClr val="64748B"/>
                </a:solidFill>
                <a:latin typeface="Calibri" pitchFamily="34" charset="0"/>
                <a:ea typeface="Calibri" pitchFamily="34" charset="-122"/>
                <a:cs typeface="Calibri" pitchFamily="34" charset="-120"/>
              </a:rPr>
              <a:t>Moovex es un producto SaaS real con modelo de negocio validado, clientes pagando mensualmente y crecimiento orgánico. Experiencia end-to-end desde la concepción hasta la operación comercial.</a:t>
            </a:r>
            <a:endParaRPr lang="en-US" sz="1000" dirty="0"/>
          </a:p>
        </p:txBody>
      </p:sp>
      <p:sp>
        <p:nvSpPr>
          <p:cNvPr id="9" name="Shape 7"/>
          <p:cNvSpPr/>
          <p:nvPr/>
        </p:nvSpPr>
        <p:spPr>
          <a:xfrm>
            <a:off x="548640" y="2377440"/>
            <a:ext cx="8046720" cy="960120"/>
          </a:xfrm>
          <a:prstGeom prst="roundRect">
            <a:avLst>
              <a:gd name="adj" fmla="val 9524"/>
            </a:avLst>
          </a:prstGeom>
          <a:solidFill>
            <a:srgbClr val="F1F5F9"/>
          </a:solidFill>
          <a:ln/>
        </p:spPr>
        <p:txBody>
          <a:bodyPr/>
          <a:lstStyle/>
          <a:p>
            <a:endParaRPr lang="es-CL"/>
          </a:p>
        </p:txBody>
      </p:sp>
      <p:sp>
        <p:nvSpPr>
          <p:cNvPr id="10" name="Text 8"/>
          <p:cNvSpPr txBox="1"/>
          <p:nvPr/>
        </p:nvSpPr>
        <p:spPr>
          <a:xfrm>
            <a:off x="731520" y="2514600"/>
            <a:ext cx="548640" cy="457200"/>
          </a:xfrm>
          <a:prstGeom prst="rect">
            <a:avLst/>
          </a:prstGeom>
          <a:noFill/>
          <a:ln/>
        </p:spPr>
        <p:txBody>
          <a:bodyPr wrap="square" lIns="0" tIns="0" rIns="0" bIns="0" rtlCol="0" anchor="ctr"/>
          <a:lstStyle/>
          <a:p>
            <a:pPr marL="0" indent="0">
              <a:buNone/>
            </a:pPr>
            <a:r>
              <a:rPr lang="en-US" sz="2400" dirty="0">
                <a:solidFill>
                  <a:srgbClr val="000000"/>
                </a:solidFill>
              </a:rPr>
              <a:t>🏗️</a:t>
            </a:r>
            <a:endParaRPr lang="en-US" sz="2400" dirty="0"/>
          </a:p>
        </p:txBody>
      </p:sp>
      <p:sp>
        <p:nvSpPr>
          <p:cNvPr id="11" name="Text 9"/>
          <p:cNvSpPr txBox="1"/>
          <p:nvPr/>
        </p:nvSpPr>
        <p:spPr>
          <a:xfrm>
            <a:off x="1371600" y="2468880"/>
            <a:ext cx="7040880" cy="27432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Arquitectura de Sistemas Distribuidos</a:t>
            </a:r>
            <a:endParaRPr lang="en-US" sz="1300" dirty="0"/>
          </a:p>
        </p:txBody>
      </p:sp>
      <p:sp>
        <p:nvSpPr>
          <p:cNvPr id="12" name="Text 10"/>
          <p:cNvSpPr txBox="1"/>
          <p:nvPr/>
        </p:nvSpPr>
        <p:spPr>
          <a:xfrm>
            <a:off x="1371600" y="2788920"/>
            <a:ext cx="7040880" cy="457200"/>
          </a:xfrm>
          <a:prstGeom prst="rect">
            <a:avLst/>
          </a:prstGeom>
          <a:noFill/>
          <a:ln/>
        </p:spPr>
        <p:txBody>
          <a:bodyPr wrap="square" lIns="0" tIns="0" rIns="0" bIns="0" rtlCol="0" anchor="ctr"/>
          <a:lstStyle/>
          <a:p>
            <a:pPr marL="0" indent="0">
              <a:lnSpc>
                <a:spcPct val="130000"/>
              </a:lnSpc>
              <a:buNone/>
            </a:pPr>
            <a:r>
              <a:rPr lang="en-US" sz="1000" dirty="0">
                <a:solidFill>
                  <a:srgbClr val="64748B"/>
                </a:solidFill>
                <a:latin typeface="Calibri" pitchFamily="34" charset="0"/>
                <a:ea typeface="Calibri" pitchFamily="34" charset="-122"/>
                <a:cs typeface="Calibri" pitchFamily="34" charset="-120"/>
              </a:rPr>
              <a:t>Diseño de sistemas con webhooks bidireccionales, crons de respaldo, sincronización multi-operador y manejo de concurrencia. Problemas reales de ingeniería a escala.</a:t>
            </a:r>
            <a:endParaRPr lang="en-US" sz="1000" dirty="0"/>
          </a:p>
        </p:txBody>
      </p:sp>
      <p:sp>
        <p:nvSpPr>
          <p:cNvPr id="13" name="Shape 11"/>
          <p:cNvSpPr/>
          <p:nvPr/>
        </p:nvSpPr>
        <p:spPr>
          <a:xfrm>
            <a:off x="548640" y="3520440"/>
            <a:ext cx="8046720" cy="960120"/>
          </a:xfrm>
          <a:prstGeom prst="roundRect">
            <a:avLst>
              <a:gd name="adj" fmla="val 9524"/>
            </a:avLst>
          </a:prstGeom>
          <a:solidFill>
            <a:srgbClr val="F1F5F9"/>
          </a:solidFill>
          <a:ln/>
        </p:spPr>
        <p:txBody>
          <a:bodyPr/>
          <a:lstStyle/>
          <a:p>
            <a:endParaRPr lang="es-CL"/>
          </a:p>
        </p:txBody>
      </p:sp>
      <p:sp>
        <p:nvSpPr>
          <p:cNvPr id="14" name="Text 12"/>
          <p:cNvSpPr txBox="1"/>
          <p:nvPr/>
        </p:nvSpPr>
        <p:spPr>
          <a:xfrm>
            <a:off x="731520" y="3657600"/>
            <a:ext cx="548640" cy="457200"/>
          </a:xfrm>
          <a:prstGeom prst="rect">
            <a:avLst/>
          </a:prstGeom>
          <a:noFill/>
          <a:ln/>
        </p:spPr>
        <p:txBody>
          <a:bodyPr wrap="square" lIns="0" tIns="0" rIns="0" bIns="0" rtlCol="0" anchor="ctr"/>
          <a:lstStyle/>
          <a:p>
            <a:pPr marL="0" indent="0">
              <a:buNone/>
            </a:pPr>
            <a:r>
              <a:rPr lang="en-US" sz="2400" dirty="0">
                <a:solidFill>
                  <a:srgbClr val="000000"/>
                </a:solidFill>
              </a:rPr>
              <a:t>💼</a:t>
            </a:r>
            <a:endParaRPr lang="en-US" sz="2400" dirty="0"/>
          </a:p>
        </p:txBody>
      </p:sp>
      <p:sp>
        <p:nvSpPr>
          <p:cNvPr id="15" name="Text 13"/>
          <p:cNvSpPr txBox="1"/>
          <p:nvPr/>
        </p:nvSpPr>
        <p:spPr>
          <a:xfrm>
            <a:off x="1371600" y="3611880"/>
            <a:ext cx="7040880" cy="27432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Emprendimiento Tecnológico</a:t>
            </a:r>
            <a:endParaRPr lang="en-US" sz="1300" dirty="0"/>
          </a:p>
        </p:txBody>
      </p:sp>
      <p:sp>
        <p:nvSpPr>
          <p:cNvPr id="16" name="Text 14"/>
          <p:cNvSpPr txBox="1"/>
          <p:nvPr/>
        </p:nvSpPr>
        <p:spPr>
          <a:xfrm>
            <a:off x="1371600" y="3931920"/>
            <a:ext cx="7040880" cy="457200"/>
          </a:xfrm>
          <a:prstGeom prst="rect">
            <a:avLst/>
          </a:prstGeom>
          <a:noFill/>
          <a:ln/>
        </p:spPr>
        <p:txBody>
          <a:bodyPr wrap="square" lIns="0" tIns="0" rIns="0" bIns="0" rtlCol="0" anchor="ctr"/>
          <a:lstStyle/>
          <a:p>
            <a:pPr marL="0" indent="0">
              <a:lnSpc>
                <a:spcPct val="130000"/>
              </a:lnSpc>
              <a:buNone/>
            </a:pPr>
            <a:r>
              <a:rPr lang="en-US" sz="1000" dirty="0">
                <a:solidFill>
                  <a:srgbClr val="64748B"/>
                </a:solidFill>
                <a:latin typeface="Calibri" pitchFamily="34" charset="0"/>
                <a:ea typeface="Calibri" pitchFamily="34" charset="-122"/>
                <a:cs typeface="Calibri" pitchFamily="34" charset="-120"/>
              </a:rPr>
              <a:t>Desarrollo completo del ciclo de un negocio tecnológico: desde la identificación del problema hasta la captación de clientes, operación logística y soporte técnico.</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p:spPr>
        <p:txBody>
          <a:bodyPr/>
          <a:lstStyle/>
          <a:p>
            <a:endParaRPr lang="es-CL"/>
          </a:p>
        </p:txBody>
      </p:sp>
      <p:sp>
        <p:nvSpPr>
          <p:cNvPr id="3" name="Text 1"/>
          <p:cNvSpPr txBox="1"/>
          <p:nvPr/>
        </p:nvSpPr>
        <p:spPr>
          <a:xfrm>
            <a:off x="548640" y="365760"/>
            <a:ext cx="4572000" cy="228600"/>
          </a:xfrm>
          <a:prstGeom prst="rect">
            <a:avLst/>
          </a:prstGeom>
          <a:noFill/>
          <a:ln/>
        </p:spPr>
        <p:txBody>
          <a:bodyPr wrap="square" lIns="0" tIns="0" rIns="0" bIns="0" rtlCol="0" anchor="ctr"/>
          <a:lstStyle/>
          <a:p>
            <a:pPr marL="0" indent="0">
              <a:buNone/>
            </a:pPr>
            <a:r>
              <a:rPr lang="en-US" sz="1000" b="1" dirty="0">
                <a:solidFill>
                  <a:srgbClr val="2563EB"/>
                </a:solidFill>
                <a:latin typeface="Calibri" pitchFamily="34" charset="0"/>
                <a:ea typeface="Calibri" pitchFamily="34" charset="-122"/>
                <a:cs typeface="Calibri" pitchFamily="34" charset="-120"/>
              </a:rPr>
              <a:t>03 · FACTIBILIDAD</a:t>
            </a:r>
            <a:endParaRPr lang="en-US" sz="1000" dirty="0"/>
          </a:p>
        </p:txBody>
      </p:sp>
      <p:sp>
        <p:nvSpPr>
          <p:cNvPr id="4" name="Text 2"/>
          <p:cNvSpPr txBox="1"/>
          <p:nvPr/>
        </p:nvSpPr>
        <p:spPr>
          <a:xfrm>
            <a:off x="548640" y="640080"/>
            <a:ext cx="7315200" cy="36576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¿Por qué es viable en el semestre?</a:t>
            </a:r>
            <a:endParaRPr lang="en-US" sz="2200" dirty="0"/>
          </a:p>
        </p:txBody>
      </p:sp>
      <p:sp>
        <p:nvSpPr>
          <p:cNvPr id="5" name="Shape 3"/>
          <p:cNvSpPr/>
          <p:nvPr/>
        </p:nvSpPr>
        <p:spPr>
          <a:xfrm>
            <a:off x="548640" y="1188720"/>
            <a:ext cx="3840480" cy="3108960"/>
          </a:xfrm>
          <a:prstGeom prst="roundRect">
            <a:avLst>
              <a:gd name="adj" fmla="val 2941"/>
            </a:avLst>
          </a:prstGeom>
          <a:solidFill>
            <a:srgbClr val="F0FDF4"/>
          </a:solidFill>
          <a:ln/>
        </p:spPr>
        <p:txBody>
          <a:bodyPr/>
          <a:lstStyle/>
          <a:p>
            <a:endParaRPr lang="es-CL"/>
          </a:p>
        </p:txBody>
      </p:sp>
      <p:sp>
        <p:nvSpPr>
          <p:cNvPr id="6" name="Text 4"/>
          <p:cNvSpPr txBox="1"/>
          <p:nvPr/>
        </p:nvSpPr>
        <p:spPr>
          <a:xfrm>
            <a:off x="731520" y="1280160"/>
            <a:ext cx="3474720" cy="228600"/>
          </a:xfrm>
          <a:prstGeom prst="rect">
            <a:avLst/>
          </a:prstGeom>
          <a:noFill/>
          <a:ln/>
        </p:spPr>
        <p:txBody>
          <a:bodyPr wrap="square" lIns="0" tIns="0" rIns="0" bIns="0" rtlCol="0" anchor="ctr"/>
          <a:lstStyle/>
          <a:p>
            <a:pPr marL="0" indent="0">
              <a:buNone/>
            </a:pPr>
            <a:r>
              <a:rPr lang="en-US" sz="900" b="1" dirty="0">
                <a:solidFill>
                  <a:srgbClr val="10B981"/>
                </a:solidFill>
                <a:latin typeface="Calibri" pitchFamily="34" charset="0"/>
                <a:ea typeface="Calibri" pitchFamily="34" charset="-122"/>
                <a:cs typeface="Calibri" pitchFamily="34" charset="-120"/>
              </a:rPr>
              <a:t>FACTORES A FAVOR</a:t>
            </a:r>
            <a:endParaRPr lang="en-US" sz="900" dirty="0"/>
          </a:p>
        </p:txBody>
      </p:sp>
      <p:sp>
        <p:nvSpPr>
          <p:cNvPr id="7" name="Text 5"/>
          <p:cNvSpPr txBox="1"/>
          <p:nvPr/>
        </p:nvSpPr>
        <p:spPr>
          <a:xfrm>
            <a:off x="731520" y="1645920"/>
            <a:ext cx="3474720" cy="228600"/>
          </a:xfrm>
          <a:prstGeom prst="rect">
            <a:avLst/>
          </a:prstGeom>
          <a:noFill/>
          <a:ln/>
        </p:spPr>
        <p:txBody>
          <a:bodyPr wrap="square" lIns="0" tIns="0" rIns="0" bIns="0" rtlCol="0" anchor="ctr"/>
          <a:lstStyle/>
          <a:p>
            <a:pPr marL="0" indent="0">
              <a:buNone/>
            </a:pPr>
            <a:r>
              <a:rPr lang="en-US" sz="1100" b="1" dirty="0">
                <a:solidFill>
                  <a:srgbClr val="334155"/>
                </a:solidFill>
                <a:latin typeface="Calibri" pitchFamily="34" charset="0"/>
                <a:ea typeface="Calibri" pitchFamily="34" charset="-122"/>
                <a:cs typeface="Calibri" pitchFamily="34" charset="-120"/>
              </a:rPr>
              <a:t>Sistema en producción</a:t>
            </a:r>
            <a:endParaRPr lang="en-US" sz="1100" dirty="0"/>
          </a:p>
        </p:txBody>
      </p:sp>
      <p:sp>
        <p:nvSpPr>
          <p:cNvPr id="8" name="Text 6"/>
          <p:cNvSpPr txBox="1"/>
          <p:nvPr/>
        </p:nvSpPr>
        <p:spPr>
          <a:xfrm>
            <a:off x="731520" y="1874520"/>
            <a:ext cx="3474720" cy="32004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MVP funcional con clientes activos y base de datos con +10K registros.</a:t>
            </a:r>
            <a:endParaRPr lang="en-US" sz="900" dirty="0"/>
          </a:p>
        </p:txBody>
      </p:sp>
      <p:sp>
        <p:nvSpPr>
          <p:cNvPr id="9" name="Text 7"/>
          <p:cNvSpPr txBox="1"/>
          <p:nvPr/>
        </p:nvSpPr>
        <p:spPr>
          <a:xfrm>
            <a:off x="731520" y="2286000"/>
            <a:ext cx="3474720" cy="228600"/>
          </a:xfrm>
          <a:prstGeom prst="rect">
            <a:avLst/>
          </a:prstGeom>
          <a:noFill/>
          <a:ln/>
        </p:spPr>
        <p:txBody>
          <a:bodyPr wrap="square" lIns="0" tIns="0" rIns="0" bIns="0" rtlCol="0" anchor="ctr"/>
          <a:lstStyle/>
          <a:p>
            <a:pPr marL="0" indent="0">
              <a:buNone/>
            </a:pPr>
            <a:r>
              <a:rPr lang="en-US" sz="1100" b="1" dirty="0">
                <a:solidFill>
                  <a:srgbClr val="334155"/>
                </a:solidFill>
                <a:latin typeface="Calibri" pitchFamily="34" charset="0"/>
                <a:ea typeface="Calibri" pitchFamily="34" charset="-122"/>
                <a:cs typeface="Calibri" pitchFamily="34" charset="-120"/>
              </a:rPr>
              <a:t>Infraestructura lista</a:t>
            </a:r>
            <a:endParaRPr lang="en-US" sz="1100" dirty="0"/>
          </a:p>
        </p:txBody>
      </p:sp>
      <p:sp>
        <p:nvSpPr>
          <p:cNvPr id="10" name="Text 8"/>
          <p:cNvSpPr txBox="1"/>
          <p:nvPr/>
        </p:nvSpPr>
        <p:spPr>
          <a:xfrm>
            <a:off x="731520" y="2514600"/>
            <a:ext cx="3474720" cy="32004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Vercel Pro, Supabase, GitHub. Sin inversión adicional necesaria.</a:t>
            </a:r>
            <a:endParaRPr lang="en-US" sz="900" dirty="0"/>
          </a:p>
        </p:txBody>
      </p:sp>
      <p:sp>
        <p:nvSpPr>
          <p:cNvPr id="11" name="Text 9"/>
          <p:cNvSpPr txBox="1"/>
          <p:nvPr/>
        </p:nvSpPr>
        <p:spPr>
          <a:xfrm>
            <a:off x="731520" y="2926080"/>
            <a:ext cx="3474720" cy="228600"/>
          </a:xfrm>
          <a:prstGeom prst="rect">
            <a:avLst/>
          </a:prstGeom>
          <a:noFill/>
          <a:ln/>
        </p:spPr>
        <p:txBody>
          <a:bodyPr wrap="square" lIns="0" tIns="0" rIns="0" bIns="0" rtlCol="0" anchor="ctr"/>
          <a:lstStyle/>
          <a:p>
            <a:pPr marL="0" indent="0">
              <a:buNone/>
            </a:pPr>
            <a:r>
              <a:rPr lang="en-US" sz="1100" b="1" dirty="0">
                <a:solidFill>
                  <a:srgbClr val="334155"/>
                </a:solidFill>
                <a:latin typeface="Calibri" pitchFamily="34" charset="0"/>
                <a:ea typeface="Calibri" pitchFamily="34" charset="-122"/>
                <a:cs typeface="Calibri" pitchFamily="34" charset="-120"/>
              </a:rPr>
              <a:t>Feedback real continuo</a:t>
            </a:r>
            <a:endParaRPr lang="en-US" sz="1100" dirty="0"/>
          </a:p>
        </p:txBody>
      </p:sp>
      <p:sp>
        <p:nvSpPr>
          <p:cNvPr id="12" name="Text 10"/>
          <p:cNvSpPr txBox="1"/>
          <p:nvPr/>
        </p:nvSpPr>
        <p:spPr>
          <a:xfrm>
            <a:off x="731520" y="3154680"/>
            <a:ext cx="3474720" cy="32004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Clientes y operadores validan cada mejora directamente en producción.</a:t>
            </a:r>
            <a:endParaRPr lang="en-US" sz="900" dirty="0"/>
          </a:p>
        </p:txBody>
      </p:sp>
      <p:sp>
        <p:nvSpPr>
          <p:cNvPr id="13" name="Text 11"/>
          <p:cNvSpPr txBox="1"/>
          <p:nvPr/>
        </p:nvSpPr>
        <p:spPr>
          <a:xfrm>
            <a:off x="731520" y="3566160"/>
            <a:ext cx="3474720" cy="228600"/>
          </a:xfrm>
          <a:prstGeom prst="rect">
            <a:avLst/>
          </a:prstGeom>
          <a:noFill/>
          <a:ln/>
        </p:spPr>
        <p:txBody>
          <a:bodyPr wrap="square" lIns="0" tIns="0" rIns="0" bIns="0" rtlCol="0" anchor="ctr"/>
          <a:lstStyle/>
          <a:p>
            <a:pPr marL="0" indent="0">
              <a:buNone/>
            </a:pPr>
            <a:r>
              <a:rPr lang="en-US" sz="1100" b="1" dirty="0">
                <a:solidFill>
                  <a:srgbClr val="334155"/>
                </a:solidFill>
                <a:latin typeface="Calibri" pitchFamily="34" charset="0"/>
                <a:ea typeface="Calibri" pitchFamily="34" charset="-122"/>
                <a:cs typeface="Calibri" pitchFamily="34" charset="-120"/>
              </a:rPr>
              <a:t>Stack dominado</a:t>
            </a:r>
            <a:endParaRPr lang="en-US" sz="1100" dirty="0"/>
          </a:p>
        </p:txBody>
      </p:sp>
      <p:sp>
        <p:nvSpPr>
          <p:cNvPr id="14" name="Text 12"/>
          <p:cNvSpPr txBox="1"/>
          <p:nvPr/>
        </p:nvSpPr>
        <p:spPr>
          <a:xfrm>
            <a:off x="731520" y="3794760"/>
            <a:ext cx="3474720" cy="32004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Next.js, TypeScript, Prisma — tecnologías con las que trabajo diariamente.</a:t>
            </a:r>
            <a:endParaRPr lang="en-US" sz="900" dirty="0"/>
          </a:p>
        </p:txBody>
      </p:sp>
      <p:sp>
        <p:nvSpPr>
          <p:cNvPr id="15" name="Shape 13"/>
          <p:cNvSpPr/>
          <p:nvPr/>
        </p:nvSpPr>
        <p:spPr>
          <a:xfrm>
            <a:off x="4754880" y="1188720"/>
            <a:ext cx="3840480" cy="3108960"/>
          </a:xfrm>
          <a:prstGeom prst="roundRect">
            <a:avLst>
              <a:gd name="adj" fmla="val 2941"/>
            </a:avLst>
          </a:prstGeom>
          <a:solidFill>
            <a:srgbClr val="FFF7ED"/>
          </a:solidFill>
          <a:ln/>
        </p:spPr>
        <p:txBody>
          <a:bodyPr/>
          <a:lstStyle/>
          <a:p>
            <a:endParaRPr lang="es-CL"/>
          </a:p>
        </p:txBody>
      </p:sp>
      <p:sp>
        <p:nvSpPr>
          <p:cNvPr id="16" name="Text 14"/>
          <p:cNvSpPr txBox="1"/>
          <p:nvPr/>
        </p:nvSpPr>
        <p:spPr>
          <a:xfrm>
            <a:off x="4937760" y="1280160"/>
            <a:ext cx="3474720" cy="228600"/>
          </a:xfrm>
          <a:prstGeom prst="rect">
            <a:avLst/>
          </a:prstGeom>
          <a:noFill/>
          <a:ln/>
        </p:spPr>
        <p:txBody>
          <a:bodyPr wrap="square" lIns="0" tIns="0" rIns="0" bIns="0" rtlCol="0" anchor="ctr"/>
          <a:lstStyle/>
          <a:p>
            <a:pPr marL="0" indent="0">
              <a:buNone/>
            </a:pPr>
            <a:r>
              <a:rPr lang="en-US" sz="900" b="1" dirty="0">
                <a:solidFill>
                  <a:srgbClr val="F59E0B"/>
                </a:solidFill>
                <a:latin typeface="Calibri" pitchFamily="34" charset="0"/>
                <a:ea typeface="Calibri" pitchFamily="34" charset="-122"/>
                <a:cs typeface="Calibri" pitchFamily="34" charset="-120"/>
              </a:rPr>
              <a:t>RIESGOS Y MITIGACIÓN</a:t>
            </a:r>
            <a:endParaRPr lang="en-US" sz="900" dirty="0"/>
          </a:p>
        </p:txBody>
      </p:sp>
      <p:sp>
        <p:nvSpPr>
          <p:cNvPr id="17" name="Text 15"/>
          <p:cNvSpPr txBox="1"/>
          <p:nvPr/>
        </p:nvSpPr>
        <p:spPr>
          <a:xfrm>
            <a:off x="4937760" y="1645920"/>
            <a:ext cx="3474720" cy="228600"/>
          </a:xfrm>
          <a:prstGeom prst="rect">
            <a:avLst/>
          </a:prstGeom>
          <a:noFill/>
          <a:ln/>
        </p:spPr>
        <p:txBody>
          <a:bodyPr wrap="square" lIns="0" tIns="0" rIns="0" bIns="0" rtlCol="0" anchor="ctr"/>
          <a:lstStyle/>
          <a:p>
            <a:pPr marL="0" indent="0">
              <a:buNone/>
            </a:pPr>
            <a:r>
              <a:rPr lang="en-US" sz="1100" b="1" dirty="0">
                <a:solidFill>
                  <a:srgbClr val="334155"/>
                </a:solidFill>
                <a:latin typeface="Calibri" pitchFamily="34" charset="0"/>
                <a:ea typeface="Calibri" pitchFamily="34" charset="-122"/>
                <a:cs typeface="Calibri" pitchFamily="34" charset="-120"/>
              </a:rPr>
              <a:t>Cambios en APIs externas</a:t>
            </a:r>
            <a:endParaRPr lang="en-US" sz="1100" dirty="0"/>
          </a:p>
        </p:txBody>
      </p:sp>
      <p:sp>
        <p:nvSpPr>
          <p:cNvPr id="18" name="Text 16"/>
          <p:cNvSpPr txBox="1"/>
          <p:nvPr/>
        </p:nvSpPr>
        <p:spPr>
          <a:xfrm>
            <a:off x="4937760" y="1874520"/>
            <a:ext cx="3474720" cy="32004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Mitigación: diseño modular — cada integración es independiente y reemplazable.</a:t>
            </a:r>
            <a:endParaRPr lang="en-US" sz="900" dirty="0"/>
          </a:p>
        </p:txBody>
      </p:sp>
      <p:sp>
        <p:nvSpPr>
          <p:cNvPr id="19" name="Text 17"/>
          <p:cNvSpPr txBox="1"/>
          <p:nvPr/>
        </p:nvSpPr>
        <p:spPr>
          <a:xfrm>
            <a:off x="4937760" y="2286000"/>
            <a:ext cx="3474720" cy="228600"/>
          </a:xfrm>
          <a:prstGeom prst="rect">
            <a:avLst/>
          </a:prstGeom>
          <a:noFill/>
          <a:ln/>
        </p:spPr>
        <p:txBody>
          <a:bodyPr wrap="square" lIns="0" tIns="0" rIns="0" bIns="0" rtlCol="0" anchor="ctr"/>
          <a:lstStyle/>
          <a:p>
            <a:pPr marL="0" indent="0">
              <a:buNone/>
            </a:pPr>
            <a:r>
              <a:rPr lang="en-US" sz="1100" b="1" dirty="0">
                <a:solidFill>
                  <a:srgbClr val="334155"/>
                </a:solidFill>
                <a:latin typeface="Calibri" pitchFamily="34" charset="0"/>
                <a:ea typeface="Calibri" pitchFamily="34" charset="-122"/>
                <a:cs typeface="Calibri" pitchFamily="34" charset="-120"/>
              </a:rPr>
              <a:t>Incidentes en producción</a:t>
            </a:r>
            <a:endParaRPr lang="en-US" sz="1100" dirty="0"/>
          </a:p>
        </p:txBody>
      </p:sp>
      <p:sp>
        <p:nvSpPr>
          <p:cNvPr id="20" name="Text 18"/>
          <p:cNvSpPr txBox="1"/>
          <p:nvPr/>
        </p:nvSpPr>
        <p:spPr>
          <a:xfrm>
            <a:off x="4937760" y="2514600"/>
            <a:ext cx="3474720" cy="32004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Mitigación: logs estructurados, crons de respaldo, reintentos automáticos.</a:t>
            </a:r>
            <a:endParaRPr lang="en-US" sz="900" dirty="0"/>
          </a:p>
        </p:txBody>
      </p:sp>
      <p:sp>
        <p:nvSpPr>
          <p:cNvPr id="21" name="Text 19"/>
          <p:cNvSpPr txBox="1"/>
          <p:nvPr/>
        </p:nvSpPr>
        <p:spPr>
          <a:xfrm>
            <a:off x="4937760" y="2926080"/>
            <a:ext cx="3474720" cy="228600"/>
          </a:xfrm>
          <a:prstGeom prst="rect">
            <a:avLst/>
          </a:prstGeom>
          <a:noFill/>
          <a:ln/>
        </p:spPr>
        <p:txBody>
          <a:bodyPr wrap="square" lIns="0" tIns="0" rIns="0" bIns="0" rtlCol="0" anchor="ctr"/>
          <a:lstStyle/>
          <a:p>
            <a:pPr marL="0" indent="0">
              <a:buNone/>
            </a:pPr>
            <a:r>
              <a:rPr lang="en-US" sz="1100" b="1" dirty="0">
                <a:solidFill>
                  <a:srgbClr val="334155"/>
                </a:solidFill>
                <a:latin typeface="Calibri" pitchFamily="34" charset="0"/>
                <a:ea typeface="Calibri" pitchFamily="34" charset="-122"/>
                <a:cs typeface="Calibri" pitchFamily="34" charset="-120"/>
              </a:rPr>
              <a:t>Carga académica del semestre</a:t>
            </a:r>
            <a:endParaRPr lang="en-US" sz="1100" dirty="0"/>
          </a:p>
        </p:txBody>
      </p:sp>
      <p:sp>
        <p:nvSpPr>
          <p:cNvPr id="22" name="Text 20"/>
          <p:cNvSpPr txBox="1"/>
          <p:nvPr/>
        </p:nvSpPr>
        <p:spPr>
          <a:xfrm>
            <a:off x="4937760" y="3154680"/>
            <a:ext cx="3474720" cy="32004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Mitigación: planificación en 18 semanas con hitos claros y entregables parciales.</a:t>
            </a:r>
            <a:endParaRPr lang="en-US" sz="900" dirty="0"/>
          </a:p>
        </p:txBody>
      </p:sp>
      <p:sp>
        <p:nvSpPr>
          <p:cNvPr id="23" name="Text 21"/>
          <p:cNvSpPr txBox="1"/>
          <p:nvPr/>
        </p:nvSpPr>
        <p:spPr>
          <a:xfrm>
            <a:off x="4937760" y="3566160"/>
            <a:ext cx="3474720" cy="228600"/>
          </a:xfrm>
          <a:prstGeom prst="rect">
            <a:avLst/>
          </a:prstGeom>
          <a:noFill/>
          <a:ln/>
        </p:spPr>
        <p:txBody>
          <a:bodyPr wrap="square" lIns="0" tIns="0" rIns="0" bIns="0" rtlCol="0" anchor="ctr"/>
          <a:lstStyle/>
          <a:p>
            <a:pPr marL="0" indent="0">
              <a:buNone/>
            </a:pPr>
            <a:r>
              <a:rPr lang="en-US" sz="1100" b="1" dirty="0">
                <a:solidFill>
                  <a:srgbClr val="334155"/>
                </a:solidFill>
                <a:latin typeface="Calibri" pitchFamily="34" charset="0"/>
                <a:ea typeface="Calibri" pitchFamily="34" charset="-122"/>
                <a:cs typeface="Calibri" pitchFamily="34" charset="-120"/>
              </a:rPr>
              <a:t>Dependencia de operadores</a:t>
            </a:r>
            <a:endParaRPr lang="en-US" sz="1100" dirty="0"/>
          </a:p>
        </p:txBody>
      </p:sp>
      <p:sp>
        <p:nvSpPr>
          <p:cNvPr id="24" name="Text 22"/>
          <p:cNvSpPr txBox="1"/>
          <p:nvPr/>
        </p:nvSpPr>
        <p:spPr>
          <a:xfrm>
            <a:off x="4937760" y="3794760"/>
            <a:ext cx="3474720" cy="32004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Mitigación: webhook de respaldo por cron + sincronización bidireccional.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p:spPr>
        <p:txBody>
          <a:bodyPr/>
          <a:lstStyle/>
          <a:p>
            <a:endParaRPr lang="es-CL"/>
          </a:p>
        </p:txBody>
      </p:sp>
      <p:sp>
        <p:nvSpPr>
          <p:cNvPr id="3" name="Text 1"/>
          <p:cNvSpPr txBox="1"/>
          <p:nvPr/>
        </p:nvSpPr>
        <p:spPr>
          <a:xfrm>
            <a:off x="548640" y="365760"/>
            <a:ext cx="3657600" cy="228600"/>
          </a:xfrm>
          <a:prstGeom prst="rect">
            <a:avLst/>
          </a:prstGeom>
          <a:noFill/>
          <a:ln/>
        </p:spPr>
        <p:txBody>
          <a:bodyPr wrap="square" lIns="0" tIns="0" rIns="0" bIns="0" rtlCol="0" anchor="ctr"/>
          <a:lstStyle/>
          <a:p>
            <a:pPr marL="0" indent="0">
              <a:buNone/>
            </a:pPr>
            <a:r>
              <a:rPr lang="en-US" sz="1000" b="1" dirty="0">
                <a:solidFill>
                  <a:srgbClr val="2563EB"/>
                </a:solidFill>
                <a:latin typeface="Calibri" pitchFamily="34" charset="0"/>
                <a:ea typeface="Calibri" pitchFamily="34" charset="-122"/>
                <a:cs typeface="Calibri" pitchFamily="34" charset="-120"/>
              </a:rPr>
              <a:t>04 · OBJETIVOS</a:t>
            </a:r>
            <a:endParaRPr lang="en-US" sz="1000" dirty="0"/>
          </a:p>
        </p:txBody>
      </p:sp>
      <p:sp>
        <p:nvSpPr>
          <p:cNvPr id="4" name="Text 2"/>
          <p:cNvSpPr txBox="1"/>
          <p:nvPr/>
        </p:nvSpPr>
        <p:spPr>
          <a:xfrm>
            <a:off x="548640" y="640080"/>
            <a:ext cx="7315200" cy="36576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Objetivos del Proyecto</a:t>
            </a:r>
            <a:endParaRPr lang="en-US" sz="2200" dirty="0"/>
          </a:p>
        </p:txBody>
      </p:sp>
      <p:sp>
        <p:nvSpPr>
          <p:cNvPr id="5" name="Shape 3"/>
          <p:cNvSpPr/>
          <p:nvPr/>
        </p:nvSpPr>
        <p:spPr>
          <a:xfrm>
            <a:off x="548640" y="1143000"/>
            <a:ext cx="8046720" cy="777240"/>
          </a:xfrm>
          <a:prstGeom prst="roundRect">
            <a:avLst>
              <a:gd name="adj" fmla="val 9412"/>
            </a:avLst>
          </a:prstGeom>
          <a:solidFill>
            <a:srgbClr val="EFF6FF"/>
          </a:solidFill>
          <a:ln/>
        </p:spPr>
        <p:txBody>
          <a:bodyPr/>
          <a:lstStyle/>
          <a:p>
            <a:endParaRPr lang="es-CL"/>
          </a:p>
        </p:txBody>
      </p:sp>
      <p:sp>
        <p:nvSpPr>
          <p:cNvPr id="6" name="Text 4"/>
          <p:cNvSpPr txBox="1"/>
          <p:nvPr/>
        </p:nvSpPr>
        <p:spPr>
          <a:xfrm>
            <a:off x="731520" y="1188720"/>
            <a:ext cx="2286000" cy="182880"/>
          </a:xfrm>
          <a:prstGeom prst="rect">
            <a:avLst/>
          </a:prstGeom>
          <a:noFill/>
          <a:ln/>
        </p:spPr>
        <p:txBody>
          <a:bodyPr wrap="square" lIns="0" tIns="0" rIns="0" bIns="0" rtlCol="0" anchor="ctr"/>
          <a:lstStyle/>
          <a:p>
            <a:pPr marL="0" indent="0">
              <a:buNone/>
            </a:pPr>
            <a:r>
              <a:rPr lang="en-US" sz="900" b="1" dirty="0">
                <a:solidFill>
                  <a:srgbClr val="2563EB"/>
                </a:solidFill>
                <a:latin typeface="Calibri" pitchFamily="34" charset="0"/>
                <a:ea typeface="Calibri" pitchFamily="34" charset="-122"/>
                <a:cs typeface="Calibri" pitchFamily="34" charset="-120"/>
              </a:rPr>
              <a:t>OBJETIVO GENERAL</a:t>
            </a:r>
            <a:endParaRPr lang="en-US" sz="900" dirty="0"/>
          </a:p>
        </p:txBody>
      </p:sp>
      <p:sp>
        <p:nvSpPr>
          <p:cNvPr id="7" name="Text 5"/>
          <p:cNvSpPr txBox="1"/>
          <p:nvPr/>
        </p:nvSpPr>
        <p:spPr>
          <a:xfrm>
            <a:off x="731520" y="1417320"/>
            <a:ext cx="7680960" cy="411480"/>
          </a:xfrm>
          <a:prstGeom prst="rect">
            <a:avLst/>
          </a:prstGeom>
          <a:noFill/>
          <a:ln/>
        </p:spPr>
        <p:txBody>
          <a:bodyPr wrap="square" lIns="0" tIns="0" rIns="0" bIns="0" rtlCol="0" anchor="ctr"/>
          <a:lstStyle/>
          <a:p>
            <a:pPr marL="0" indent="0">
              <a:buNone/>
            </a:pPr>
            <a:r>
              <a:rPr lang="en-US" sz="1100" dirty="0">
                <a:solidFill>
                  <a:srgbClr val="0F172A"/>
                </a:solidFill>
                <a:latin typeface="Calibri" pitchFamily="34" charset="0"/>
                <a:ea typeface="Calibri" pitchFamily="34" charset="-122"/>
                <a:cs typeface="Calibri" pitchFamily="34" charset="-120"/>
              </a:rPr>
              <a:t>Desarrollar y operar una plataforma SaaS que centralice la gestión logística de última milla, integrando e-commerce, operadores logísticos, facturación y evidencia de entrega para PyMEs de la Región Metropolitana.</a:t>
            </a:r>
            <a:endParaRPr lang="en-US" sz="1100" dirty="0"/>
          </a:p>
        </p:txBody>
      </p:sp>
      <p:sp>
        <p:nvSpPr>
          <p:cNvPr id="8" name="Text 6"/>
          <p:cNvSpPr txBox="1"/>
          <p:nvPr/>
        </p:nvSpPr>
        <p:spPr>
          <a:xfrm>
            <a:off x="548640" y="2103120"/>
            <a:ext cx="2743200" cy="182880"/>
          </a:xfrm>
          <a:prstGeom prst="rect">
            <a:avLst/>
          </a:prstGeom>
          <a:noFill/>
          <a:ln/>
        </p:spPr>
        <p:txBody>
          <a:bodyPr wrap="square" lIns="0" tIns="0" rIns="0" bIns="0" rtlCol="0" anchor="ctr"/>
          <a:lstStyle/>
          <a:p>
            <a:pPr marL="0" indent="0">
              <a:buNone/>
            </a:pPr>
            <a:r>
              <a:rPr lang="en-US" sz="900" b="1" dirty="0">
                <a:solidFill>
                  <a:srgbClr val="94A3B8"/>
                </a:solidFill>
                <a:latin typeface="Calibri" pitchFamily="34" charset="0"/>
                <a:ea typeface="Calibri" pitchFamily="34" charset="-122"/>
                <a:cs typeface="Calibri" pitchFamily="34" charset="-120"/>
              </a:rPr>
              <a:t>OBJETIVOS ESPECÍFICOS</a:t>
            </a:r>
            <a:endParaRPr lang="en-US" sz="900" dirty="0"/>
          </a:p>
        </p:txBody>
      </p:sp>
      <p:sp>
        <p:nvSpPr>
          <p:cNvPr id="9" name="Shape 7"/>
          <p:cNvSpPr/>
          <p:nvPr/>
        </p:nvSpPr>
        <p:spPr>
          <a:xfrm>
            <a:off x="548640" y="2377440"/>
            <a:ext cx="8046720" cy="329184"/>
          </a:xfrm>
          <a:prstGeom prst="roundRect">
            <a:avLst>
              <a:gd name="adj" fmla="val 13889"/>
            </a:avLst>
          </a:prstGeom>
          <a:solidFill>
            <a:srgbClr val="F1F5F9"/>
          </a:solidFill>
          <a:ln/>
        </p:spPr>
        <p:txBody>
          <a:bodyPr/>
          <a:lstStyle/>
          <a:p>
            <a:endParaRPr lang="es-CL"/>
          </a:p>
        </p:txBody>
      </p:sp>
      <p:sp>
        <p:nvSpPr>
          <p:cNvPr id="10" name="Shape 8"/>
          <p:cNvSpPr/>
          <p:nvPr/>
        </p:nvSpPr>
        <p:spPr>
          <a:xfrm>
            <a:off x="640080" y="2432304"/>
            <a:ext cx="256032" cy="219456"/>
          </a:xfrm>
          <a:prstGeom prst="roundRect">
            <a:avLst>
              <a:gd name="adj" fmla="val 16667"/>
            </a:avLst>
          </a:prstGeom>
          <a:solidFill>
            <a:srgbClr val="2563EB"/>
          </a:solidFill>
          <a:ln/>
        </p:spPr>
        <p:txBody>
          <a:bodyPr/>
          <a:lstStyle/>
          <a:p>
            <a:endParaRPr lang="es-CL"/>
          </a:p>
        </p:txBody>
      </p:sp>
      <p:sp>
        <p:nvSpPr>
          <p:cNvPr id="11" name="Text 9"/>
          <p:cNvSpPr txBox="1"/>
          <p:nvPr/>
        </p:nvSpPr>
        <p:spPr>
          <a:xfrm>
            <a:off x="640080" y="2432304"/>
            <a:ext cx="256032"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2" name="Text 10"/>
          <p:cNvSpPr txBox="1"/>
          <p:nvPr/>
        </p:nvSpPr>
        <p:spPr>
          <a:xfrm>
            <a:off x="1051560" y="2377440"/>
            <a:ext cx="7406640" cy="329184"/>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Implementar panel web multi-tienda con autenticación por roles (SUPER_ADMIN, STORE_ADMIN).</a:t>
            </a:r>
            <a:endParaRPr lang="en-US" sz="1000" dirty="0"/>
          </a:p>
        </p:txBody>
      </p:sp>
      <p:sp>
        <p:nvSpPr>
          <p:cNvPr id="13" name="Shape 11"/>
          <p:cNvSpPr/>
          <p:nvPr/>
        </p:nvSpPr>
        <p:spPr>
          <a:xfrm>
            <a:off x="548640" y="2761488"/>
            <a:ext cx="8046720" cy="329184"/>
          </a:xfrm>
          <a:prstGeom prst="roundRect">
            <a:avLst>
              <a:gd name="adj" fmla="val 13889"/>
            </a:avLst>
          </a:prstGeom>
          <a:solidFill>
            <a:srgbClr val="FFFFFF"/>
          </a:solidFill>
          <a:ln/>
        </p:spPr>
        <p:txBody>
          <a:bodyPr/>
          <a:lstStyle/>
          <a:p>
            <a:endParaRPr lang="es-CL"/>
          </a:p>
        </p:txBody>
      </p:sp>
      <p:sp>
        <p:nvSpPr>
          <p:cNvPr id="14" name="Shape 12"/>
          <p:cNvSpPr/>
          <p:nvPr/>
        </p:nvSpPr>
        <p:spPr>
          <a:xfrm>
            <a:off x="640080" y="2816352"/>
            <a:ext cx="256032" cy="219456"/>
          </a:xfrm>
          <a:prstGeom prst="roundRect">
            <a:avLst>
              <a:gd name="adj" fmla="val 16667"/>
            </a:avLst>
          </a:prstGeom>
          <a:solidFill>
            <a:srgbClr val="2563EB"/>
          </a:solidFill>
          <a:ln/>
        </p:spPr>
        <p:txBody>
          <a:bodyPr/>
          <a:lstStyle/>
          <a:p>
            <a:endParaRPr lang="es-CL"/>
          </a:p>
        </p:txBody>
      </p:sp>
      <p:sp>
        <p:nvSpPr>
          <p:cNvPr id="15" name="Text 13"/>
          <p:cNvSpPr txBox="1"/>
          <p:nvPr/>
        </p:nvSpPr>
        <p:spPr>
          <a:xfrm>
            <a:off x="640080" y="2816352"/>
            <a:ext cx="256032"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6" name="Text 14"/>
          <p:cNvSpPr txBox="1"/>
          <p:nvPr/>
        </p:nvSpPr>
        <p:spPr>
          <a:xfrm>
            <a:off x="1051560" y="2761488"/>
            <a:ext cx="7406640" cy="329184"/>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Integrar MercadoLibre (OAuth 2.0 + webhooks), WooCommerce y Shopify como fuentes de pedidos.</a:t>
            </a:r>
            <a:endParaRPr lang="en-US" sz="1000" dirty="0"/>
          </a:p>
        </p:txBody>
      </p:sp>
      <p:sp>
        <p:nvSpPr>
          <p:cNvPr id="17" name="Shape 15"/>
          <p:cNvSpPr/>
          <p:nvPr/>
        </p:nvSpPr>
        <p:spPr>
          <a:xfrm>
            <a:off x="548640" y="3145536"/>
            <a:ext cx="8046720" cy="329184"/>
          </a:xfrm>
          <a:prstGeom prst="roundRect">
            <a:avLst>
              <a:gd name="adj" fmla="val 13889"/>
            </a:avLst>
          </a:prstGeom>
          <a:solidFill>
            <a:srgbClr val="F1F5F9"/>
          </a:solidFill>
          <a:ln/>
        </p:spPr>
        <p:txBody>
          <a:bodyPr/>
          <a:lstStyle/>
          <a:p>
            <a:endParaRPr lang="es-CL"/>
          </a:p>
        </p:txBody>
      </p:sp>
      <p:sp>
        <p:nvSpPr>
          <p:cNvPr id="18" name="Shape 16"/>
          <p:cNvSpPr/>
          <p:nvPr/>
        </p:nvSpPr>
        <p:spPr>
          <a:xfrm>
            <a:off x="640080" y="3200400"/>
            <a:ext cx="256032" cy="219456"/>
          </a:xfrm>
          <a:prstGeom prst="roundRect">
            <a:avLst>
              <a:gd name="adj" fmla="val 16667"/>
            </a:avLst>
          </a:prstGeom>
          <a:solidFill>
            <a:srgbClr val="2563EB"/>
          </a:solidFill>
          <a:ln/>
        </p:spPr>
        <p:txBody>
          <a:bodyPr/>
          <a:lstStyle/>
          <a:p>
            <a:endParaRPr lang="es-CL"/>
          </a:p>
        </p:txBody>
      </p:sp>
      <p:sp>
        <p:nvSpPr>
          <p:cNvPr id="19" name="Text 17"/>
          <p:cNvSpPr txBox="1"/>
          <p:nvPr/>
        </p:nvSpPr>
        <p:spPr>
          <a:xfrm>
            <a:off x="640080" y="3200400"/>
            <a:ext cx="256032"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0" name="Text 18"/>
          <p:cNvSpPr txBox="1"/>
          <p:nvPr/>
        </p:nvSpPr>
        <p:spPr>
          <a:xfrm>
            <a:off x="1051560" y="3145536"/>
            <a:ext cx="7406640" cy="329184"/>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Desarrollar integraciones bidireccionales con operadores logísticos vía API REST y webhooks seguros.</a:t>
            </a:r>
            <a:endParaRPr lang="en-US" sz="1000" dirty="0"/>
          </a:p>
        </p:txBody>
      </p:sp>
      <p:sp>
        <p:nvSpPr>
          <p:cNvPr id="21" name="Shape 19"/>
          <p:cNvSpPr/>
          <p:nvPr/>
        </p:nvSpPr>
        <p:spPr>
          <a:xfrm>
            <a:off x="548640" y="3529584"/>
            <a:ext cx="8046720" cy="329184"/>
          </a:xfrm>
          <a:prstGeom prst="roundRect">
            <a:avLst>
              <a:gd name="adj" fmla="val 13889"/>
            </a:avLst>
          </a:prstGeom>
          <a:solidFill>
            <a:srgbClr val="FFFFFF"/>
          </a:solidFill>
          <a:ln/>
        </p:spPr>
        <p:txBody>
          <a:bodyPr/>
          <a:lstStyle/>
          <a:p>
            <a:endParaRPr lang="es-CL"/>
          </a:p>
        </p:txBody>
      </p:sp>
      <p:sp>
        <p:nvSpPr>
          <p:cNvPr id="22" name="Shape 20"/>
          <p:cNvSpPr/>
          <p:nvPr/>
        </p:nvSpPr>
        <p:spPr>
          <a:xfrm>
            <a:off x="640080" y="3584448"/>
            <a:ext cx="256032" cy="219456"/>
          </a:xfrm>
          <a:prstGeom prst="roundRect">
            <a:avLst>
              <a:gd name="adj" fmla="val 16667"/>
            </a:avLst>
          </a:prstGeom>
          <a:solidFill>
            <a:srgbClr val="2563EB"/>
          </a:solidFill>
          <a:ln/>
        </p:spPr>
        <p:txBody>
          <a:bodyPr/>
          <a:lstStyle/>
          <a:p>
            <a:endParaRPr lang="es-CL"/>
          </a:p>
        </p:txBody>
      </p:sp>
      <p:sp>
        <p:nvSpPr>
          <p:cNvPr id="23" name="Text 21"/>
          <p:cNvSpPr txBox="1"/>
          <p:nvPr/>
        </p:nvSpPr>
        <p:spPr>
          <a:xfrm>
            <a:off x="640080" y="3584448"/>
            <a:ext cx="256032"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4" name="Text 22"/>
          <p:cNvSpPr txBox="1"/>
          <p:nvPr/>
        </p:nvSpPr>
        <p:spPr>
          <a:xfrm>
            <a:off x="1051560" y="3529584"/>
            <a:ext cx="7406640" cy="329184"/>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Construir aplicación conductor (PWA) para escaneo QR, estados y evidencia fotográfica.</a:t>
            </a:r>
            <a:endParaRPr lang="en-US" sz="1000" dirty="0"/>
          </a:p>
        </p:txBody>
      </p:sp>
      <p:sp>
        <p:nvSpPr>
          <p:cNvPr id="25" name="Shape 23"/>
          <p:cNvSpPr/>
          <p:nvPr/>
        </p:nvSpPr>
        <p:spPr>
          <a:xfrm>
            <a:off x="548640" y="3913632"/>
            <a:ext cx="8046720" cy="329184"/>
          </a:xfrm>
          <a:prstGeom prst="roundRect">
            <a:avLst>
              <a:gd name="adj" fmla="val 13889"/>
            </a:avLst>
          </a:prstGeom>
          <a:solidFill>
            <a:srgbClr val="F1F5F9"/>
          </a:solidFill>
          <a:ln/>
        </p:spPr>
        <p:txBody>
          <a:bodyPr/>
          <a:lstStyle/>
          <a:p>
            <a:endParaRPr lang="es-CL"/>
          </a:p>
        </p:txBody>
      </p:sp>
      <p:sp>
        <p:nvSpPr>
          <p:cNvPr id="26" name="Shape 24"/>
          <p:cNvSpPr/>
          <p:nvPr/>
        </p:nvSpPr>
        <p:spPr>
          <a:xfrm>
            <a:off x="640080" y="3968496"/>
            <a:ext cx="256032" cy="219456"/>
          </a:xfrm>
          <a:prstGeom prst="roundRect">
            <a:avLst>
              <a:gd name="adj" fmla="val 16667"/>
            </a:avLst>
          </a:prstGeom>
          <a:solidFill>
            <a:srgbClr val="2563EB"/>
          </a:solidFill>
          <a:ln/>
        </p:spPr>
        <p:txBody>
          <a:bodyPr/>
          <a:lstStyle/>
          <a:p>
            <a:endParaRPr lang="es-CL"/>
          </a:p>
        </p:txBody>
      </p:sp>
      <p:sp>
        <p:nvSpPr>
          <p:cNvPr id="27" name="Text 25"/>
          <p:cNvSpPr txBox="1"/>
          <p:nvPr/>
        </p:nvSpPr>
        <p:spPr>
          <a:xfrm>
            <a:off x="640080" y="3968496"/>
            <a:ext cx="256032"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8" name="Text 26"/>
          <p:cNvSpPr txBox="1"/>
          <p:nvPr/>
        </p:nvSpPr>
        <p:spPr>
          <a:xfrm>
            <a:off x="1051560" y="3913632"/>
            <a:ext cx="7406640" cy="329184"/>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Implementar módulo de facturación con tarifas diferenciadas por tienda y zona geográfica.</a:t>
            </a:r>
            <a:endParaRPr lang="en-US" sz="1000" dirty="0"/>
          </a:p>
        </p:txBody>
      </p:sp>
      <p:sp>
        <p:nvSpPr>
          <p:cNvPr id="29" name="Shape 27"/>
          <p:cNvSpPr/>
          <p:nvPr/>
        </p:nvSpPr>
        <p:spPr>
          <a:xfrm>
            <a:off x="548640" y="4297680"/>
            <a:ext cx="8046720" cy="329184"/>
          </a:xfrm>
          <a:prstGeom prst="roundRect">
            <a:avLst>
              <a:gd name="adj" fmla="val 13889"/>
            </a:avLst>
          </a:prstGeom>
          <a:solidFill>
            <a:srgbClr val="FFFFFF"/>
          </a:solidFill>
          <a:ln/>
        </p:spPr>
        <p:txBody>
          <a:bodyPr/>
          <a:lstStyle/>
          <a:p>
            <a:endParaRPr lang="es-CL"/>
          </a:p>
        </p:txBody>
      </p:sp>
      <p:sp>
        <p:nvSpPr>
          <p:cNvPr id="30" name="Shape 28"/>
          <p:cNvSpPr/>
          <p:nvPr/>
        </p:nvSpPr>
        <p:spPr>
          <a:xfrm>
            <a:off x="640080" y="4352544"/>
            <a:ext cx="256032" cy="219456"/>
          </a:xfrm>
          <a:prstGeom prst="roundRect">
            <a:avLst>
              <a:gd name="adj" fmla="val 16667"/>
            </a:avLst>
          </a:prstGeom>
          <a:solidFill>
            <a:srgbClr val="2563EB"/>
          </a:solidFill>
          <a:ln/>
        </p:spPr>
        <p:txBody>
          <a:bodyPr/>
          <a:lstStyle/>
          <a:p>
            <a:endParaRPr lang="es-CL"/>
          </a:p>
        </p:txBody>
      </p:sp>
      <p:sp>
        <p:nvSpPr>
          <p:cNvPr id="31" name="Text 29"/>
          <p:cNvSpPr txBox="1"/>
          <p:nvPr/>
        </p:nvSpPr>
        <p:spPr>
          <a:xfrm>
            <a:off x="640080" y="4352544"/>
            <a:ext cx="256032"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32" name="Text 30"/>
          <p:cNvSpPr txBox="1"/>
          <p:nvPr/>
        </p:nvSpPr>
        <p:spPr>
          <a:xfrm>
            <a:off x="1051560" y="4297680"/>
            <a:ext cx="7406640" cy="329184"/>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Desplegar y operar en producción con infraestructura cloud (Vercel + Supabase).</a:t>
            </a:r>
            <a:endParaRPr lang="en-US" sz="1000" dirty="0"/>
          </a:p>
        </p:txBody>
      </p:sp>
      <p:sp>
        <p:nvSpPr>
          <p:cNvPr id="33" name="Text 31"/>
          <p:cNvSpPr txBox="1"/>
          <p:nvPr/>
        </p:nvSpPr>
        <p:spPr>
          <a:xfrm>
            <a:off x="548640" y="4709160"/>
            <a:ext cx="8046720" cy="228600"/>
          </a:xfrm>
          <a:prstGeom prst="rect">
            <a:avLst/>
          </a:prstGeom>
          <a:noFill/>
          <a:ln/>
        </p:spPr>
        <p:txBody>
          <a:bodyPr wrap="square" lIns="0" tIns="0" rIns="0" bIns="0" rtlCol="0" anchor="ctr"/>
          <a:lstStyle/>
          <a:p>
            <a:pPr marL="0" indent="0">
              <a:buNone/>
            </a:pPr>
            <a:r>
              <a:rPr lang="en-US" sz="800" dirty="0">
                <a:solidFill>
                  <a:srgbClr val="94A3B8"/>
                </a:solidFill>
                <a:latin typeface="Calibri" pitchFamily="34" charset="0"/>
                <a:ea typeface="Calibri" pitchFamily="34" charset="-122"/>
                <a:cs typeface="Calibri" pitchFamily="34" charset="-120"/>
              </a:rPr>
              <a:t>Moovex · Proyecto APT · Ingeniería en Informática · DuocUC 2026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p:spPr>
        <p:txBody>
          <a:bodyPr/>
          <a:lstStyle/>
          <a:p>
            <a:endParaRPr lang="es-CL"/>
          </a:p>
        </p:txBody>
      </p:sp>
      <p:sp>
        <p:nvSpPr>
          <p:cNvPr id="3" name="Text 1"/>
          <p:cNvSpPr txBox="1"/>
          <p:nvPr/>
        </p:nvSpPr>
        <p:spPr>
          <a:xfrm>
            <a:off x="548640" y="365760"/>
            <a:ext cx="4572000" cy="228600"/>
          </a:xfrm>
          <a:prstGeom prst="rect">
            <a:avLst/>
          </a:prstGeom>
          <a:noFill/>
          <a:ln/>
        </p:spPr>
        <p:txBody>
          <a:bodyPr wrap="square" lIns="0" tIns="0" rIns="0" bIns="0" rtlCol="0" anchor="ctr"/>
          <a:lstStyle/>
          <a:p>
            <a:pPr marL="0" indent="0">
              <a:buNone/>
            </a:pPr>
            <a:r>
              <a:rPr lang="en-US" sz="1000" b="1" dirty="0">
                <a:solidFill>
                  <a:srgbClr val="2563EB"/>
                </a:solidFill>
                <a:latin typeface="Calibri" pitchFamily="34" charset="0"/>
                <a:ea typeface="Calibri" pitchFamily="34" charset="-122"/>
                <a:cs typeface="Calibri" pitchFamily="34" charset="-120"/>
              </a:rPr>
              <a:t>05 · METODOLOGÍA</a:t>
            </a:r>
            <a:endParaRPr lang="en-US" sz="1000" dirty="0"/>
          </a:p>
        </p:txBody>
      </p:sp>
      <p:sp>
        <p:nvSpPr>
          <p:cNvPr id="4" name="Text 2"/>
          <p:cNvSpPr txBox="1"/>
          <p:nvPr/>
        </p:nvSpPr>
        <p:spPr>
          <a:xfrm>
            <a:off x="548640" y="640080"/>
            <a:ext cx="7315200" cy="36576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Metodología de Trabajo</a:t>
            </a:r>
            <a:endParaRPr lang="en-US" sz="2200" dirty="0"/>
          </a:p>
        </p:txBody>
      </p:sp>
      <p:sp>
        <p:nvSpPr>
          <p:cNvPr id="5" name="Text 3"/>
          <p:cNvSpPr txBox="1"/>
          <p:nvPr/>
        </p:nvSpPr>
        <p:spPr>
          <a:xfrm>
            <a:off x="548640" y="1051560"/>
            <a:ext cx="8046720" cy="32004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Desarrollo ágil iterativo con deploy continuo y validación en producción con usuarios reales.</a:t>
            </a:r>
            <a:endParaRPr lang="en-US" sz="1200" dirty="0"/>
          </a:p>
        </p:txBody>
      </p:sp>
      <p:sp>
        <p:nvSpPr>
          <p:cNvPr id="6" name="Shape 4"/>
          <p:cNvSpPr/>
          <p:nvPr/>
        </p:nvSpPr>
        <p:spPr>
          <a:xfrm>
            <a:off x="365760" y="1554480"/>
            <a:ext cx="1600200" cy="2286000"/>
          </a:xfrm>
          <a:prstGeom prst="roundRect">
            <a:avLst>
              <a:gd name="adj" fmla="val 5714"/>
            </a:avLst>
          </a:prstGeom>
          <a:solidFill>
            <a:srgbClr val="F1F5F9"/>
          </a:solidFill>
          <a:ln/>
        </p:spPr>
        <p:txBody>
          <a:bodyPr/>
          <a:lstStyle/>
          <a:p>
            <a:endParaRPr lang="es-CL"/>
          </a:p>
        </p:txBody>
      </p:sp>
      <p:sp>
        <p:nvSpPr>
          <p:cNvPr id="7" name="Text 5"/>
          <p:cNvSpPr txBox="1"/>
          <p:nvPr/>
        </p:nvSpPr>
        <p:spPr>
          <a:xfrm>
            <a:off x="365760" y="1691640"/>
            <a:ext cx="1600200" cy="41148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8" name="Text 6"/>
          <p:cNvSpPr txBox="1"/>
          <p:nvPr/>
        </p:nvSpPr>
        <p:spPr>
          <a:xfrm>
            <a:off x="457200" y="2148840"/>
            <a:ext cx="1417320" cy="274320"/>
          </a:xfrm>
          <a:prstGeom prst="rect">
            <a:avLst/>
          </a:prstGeom>
          <a:noFill/>
          <a:ln/>
        </p:spPr>
        <p:txBody>
          <a:bodyPr wrap="square" lIns="0" tIns="0" rIns="0" bIns="0" rtlCol="0" anchor="ctr"/>
          <a:lstStyle/>
          <a:p>
            <a:pPr marL="0" indent="0" algn="ctr">
              <a:buNone/>
            </a:pPr>
            <a:r>
              <a:rPr lang="en-US" sz="1200" b="1" dirty="0">
                <a:solidFill>
                  <a:srgbClr val="0F172A"/>
                </a:solidFill>
                <a:latin typeface="Calibri" pitchFamily="34" charset="0"/>
                <a:ea typeface="Calibri" pitchFamily="34" charset="-122"/>
                <a:cs typeface="Calibri" pitchFamily="34" charset="-120"/>
              </a:rPr>
              <a:t>Planificar</a:t>
            </a:r>
            <a:endParaRPr lang="en-US" sz="1200" dirty="0"/>
          </a:p>
        </p:txBody>
      </p:sp>
      <p:sp>
        <p:nvSpPr>
          <p:cNvPr id="9" name="Shape 7"/>
          <p:cNvSpPr/>
          <p:nvPr/>
        </p:nvSpPr>
        <p:spPr>
          <a:xfrm>
            <a:off x="914400" y="2468880"/>
            <a:ext cx="502920" cy="27432"/>
          </a:xfrm>
          <a:prstGeom prst="rect">
            <a:avLst/>
          </a:prstGeom>
          <a:solidFill>
            <a:srgbClr val="2563EB"/>
          </a:solidFill>
          <a:ln/>
        </p:spPr>
        <p:txBody>
          <a:bodyPr/>
          <a:lstStyle/>
          <a:p>
            <a:endParaRPr lang="es-CL"/>
          </a:p>
        </p:txBody>
      </p:sp>
      <p:sp>
        <p:nvSpPr>
          <p:cNvPr id="10" name="Text 8"/>
          <p:cNvSpPr txBox="1"/>
          <p:nvPr/>
        </p:nvSpPr>
        <p:spPr>
          <a:xfrm>
            <a:off x="457200" y="2606040"/>
            <a:ext cx="1417320" cy="914400"/>
          </a:xfrm>
          <a:prstGeom prst="rect">
            <a:avLst/>
          </a:prstGeom>
          <a:noFill/>
          <a:ln/>
        </p:spPr>
        <p:txBody>
          <a:bodyPr wrap="square" lIns="0" tIns="0" rIns="0" bIns="0" rtlCol="0" anchor="ctr"/>
          <a:lstStyle/>
          <a:p>
            <a:pPr marL="0" indent="0" algn="ctr">
              <a:lnSpc>
                <a:spcPct val="130000"/>
              </a:lnSpc>
              <a:buNone/>
            </a:pPr>
            <a:r>
              <a:rPr lang="en-US" sz="900" dirty="0">
                <a:solidFill>
                  <a:srgbClr val="64748B"/>
                </a:solidFill>
                <a:latin typeface="Calibri" pitchFamily="34" charset="0"/>
                <a:ea typeface="Calibri" pitchFamily="34" charset="-122"/>
                <a:cs typeface="Calibri" pitchFamily="34" charset="-120"/>
              </a:rPr>
              <a:t>Requisitos desde feedback real de tiendas y operadores</a:t>
            </a:r>
            <a:endParaRPr lang="en-US" sz="900" dirty="0"/>
          </a:p>
        </p:txBody>
      </p:sp>
      <p:sp>
        <p:nvSpPr>
          <p:cNvPr id="11" name="Text 9"/>
          <p:cNvSpPr txBox="1"/>
          <p:nvPr/>
        </p:nvSpPr>
        <p:spPr>
          <a:xfrm>
            <a:off x="1920240" y="2377440"/>
            <a:ext cx="274320" cy="274320"/>
          </a:xfrm>
          <a:prstGeom prst="rect">
            <a:avLst/>
          </a:prstGeom>
          <a:noFill/>
          <a:ln/>
        </p:spPr>
        <p:txBody>
          <a:bodyPr wrap="square" lIns="0" tIns="0" rIns="0" bIns="0" rtlCol="0" anchor="ctr"/>
          <a:lstStyle/>
          <a:p>
            <a:pPr marL="0" indent="0" algn="ctr">
              <a:buNone/>
            </a:pPr>
            <a:r>
              <a:rPr lang="en-US" sz="1800" dirty="0">
                <a:solidFill>
                  <a:srgbClr val="94A3B8"/>
                </a:solidFill>
                <a:latin typeface="Calibri" pitchFamily="34" charset="0"/>
                <a:ea typeface="Calibri" pitchFamily="34" charset="-122"/>
                <a:cs typeface="Calibri" pitchFamily="34" charset="-120"/>
              </a:rPr>
              <a:t>›</a:t>
            </a:r>
            <a:endParaRPr lang="en-US" sz="1800" dirty="0"/>
          </a:p>
        </p:txBody>
      </p:sp>
      <p:sp>
        <p:nvSpPr>
          <p:cNvPr id="12" name="Shape 10"/>
          <p:cNvSpPr/>
          <p:nvPr/>
        </p:nvSpPr>
        <p:spPr>
          <a:xfrm>
            <a:off x="2121408" y="1554480"/>
            <a:ext cx="1600200" cy="2286000"/>
          </a:xfrm>
          <a:prstGeom prst="roundRect">
            <a:avLst>
              <a:gd name="adj" fmla="val 5714"/>
            </a:avLst>
          </a:prstGeom>
          <a:solidFill>
            <a:srgbClr val="F1F5F9"/>
          </a:solidFill>
          <a:ln/>
        </p:spPr>
        <p:txBody>
          <a:bodyPr/>
          <a:lstStyle/>
          <a:p>
            <a:endParaRPr lang="es-CL"/>
          </a:p>
        </p:txBody>
      </p:sp>
      <p:sp>
        <p:nvSpPr>
          <p:cNvPr id="13" name="Text 11"/>
          <p:cNvSpPr txBox="1"/>
          <p:nvPr/>
        </p:nvSpPr>
        <p:spPr>
          <a:xfrm>
            <a:off x="2121408" y="1691640"/>
            <a:ext cx="1600200" cy="41148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14" name="Text 12"/>
          <p:cNvSpPr txBox="1"/>
          <p:nvPr/>
        </p:nvSpPr>
        <p:spPr>
          <a:xfrm>
            <a:off x="2212848" y="2148840"/>
            <a:ext cx="1417320" cy="274320"/>
          </a:xfrm>
          <a:prstGeom prst="rect">
            <a:avLst/>
          </a:prstGeom>
          <a:noFill/>
          <a:ln/>
        </p:spPr>
        <p:txBody>
          <a:bodyPr wrap="square" lIns="0" tIns="0" rIns="0" bIns="0" rtlCol="0" anchor="ctr"/>
          <a:lstStyle/>
          <a:p>
            <a:pPr marL="0" indent="0" algn="ctr">
              <a:buNone/>
            </a:pPr>
            <a:r>
              <a:rPr lang="en-US" sz="1200" b="1" dirty="0">
                <a:solidFill>
                  <a:srgbClr val="0F172A"/>
                </a:solidFill>
                <a:latin typeface="Calibri" pitchFamily="34" charset="0"/>
                <a:ea typeface="Calibri" pitchFamily="34" charset="-122"/>
                <a:cs typeface="Calibri" pitchFamily="34" charset="-120"/>
              </a:rPr>
              <a:t>Desarrollar</a:t>
            </a:r>
            <a:endParaRPr lang="en-US" sz="1200" dirty="0"/>
          </a:p>
        </p:txBody>
      </p:sp>
      <p:sp>
        <p:nvSpPr>
          <p:cNvPr id="15" name="Shape 13"/>
          <p:cNvSpPr/>
          <p:nvPr/>
        </p:nvSpPr>
        <p:spPr>
          <a:xfrm>
            <a:off x="2670048" y="2468880"/>
            <a:ext cx="502920" cy="27432"/>
          </a:xfrm>
          <a:prstGeom prst="rect">
            <a:avLst/>
          </a:prstGeom>
          <a:solidFill>
            <a:srgbClr val="10B981"/>
          </a:solidFill>
          <a:ln/>
        </p:spPr>
        <p:txBody>
          <a:bodyPr/>
          <a:lstStyle/>
          <a:p>
            <a:endParaRPr lang="es-CL"/>
          </a:p>
        </p:txBody>
      </p:sp>
      <p:sp>
        <p:nvSpPr>
          <p:cNvPr id="16" name="Text 14"/>
          <p:cNvSpPr txBox="1"/>
          <p:nvPr/>
        </p:nvSpPr>
        <p:spPr>
          <a:xfrm>
            <a:off x="2212848" y="2606040"/>
            <a:ext cx="1417320" cy="914400"/>
          </a:xfrm>
          <a:prstGeom prst="rect">
            <a:avLst/>
          </a:prstGeom>
          <a:noFill/>
          <a:ln/>
        </p:spPr>
        <p:txBody>
          <a:bodyPr wrap="square" lIns="0" tIns="0" rIns="0" bIns="0" rtlCol="0" anchor="ctr"/>
          <a:lstStyle/>
          <a:p>
            <a:pPr marL="0" indent="0" algn="ctr">
              <a:lnSpc>
                <a:spcPct val="130000"/>
              </a:lnSpc>
              <a:buNone/>
            </a:pPr>
            <a:r>
              <a:rPr lang="en-US" sz="900" dirty="0">
                <a:solidFill>
                  <a:srgbClr val="64748B"/>
                </a:solidFill>
                <a:latin typeface="Calibri" pitchFamily="34" charset="0"/>
                <a:ea typeface="Calibri" pitchFamily="34" charset="-122"/>
                <a:cs typeface="Calibri" pitchFamily="34" charset="-120"/>
              </a:rPr>
              <a:t>Next.js + TypeScript + Prisma ORM</a:t>
            </a:r>
            <a:endParaRPr lang="en-US" sz="900" dirty="0"/>
          </a:p>
        </p:txBody>
      </p:sp>
      <p:sp>
        <p:nvSpPr>
          <p:cNvPr id="17" name="Text 15"/>
          <p:cNvSpPr txBox="1"/>
          <p:nvPr/>
        </p:nvSpPr>
        <p:spPr>
          <a:xfrm>
            <a:off x="3675888" y="2377440"/>
            <a:ext cx="274320" cy="274320"/>
          </a:xfrm>
          <a:prstGeom prst="rect">
            <a:avLst/>
          </a:prstGeom>
          <a:noFill/>
          <a:ln/>
        </p:spPr>
        <p:txBody>
          <a:bodyPr wrap="square" lIns="0" tIns="0" rIns="0" bIns="0" rtlCol="0" anchor="ctr"/>
          <a:lstStyle/>
          <a:p>
            <a:pPr marL="0" indent="0" algn="ctr">
              <a:buNone/>
            </a:pPr>
            <a:r>
              <a:rPr lang="en-US" sz="1800" dirty="0">
                <a:solidFill>
                  <a:srgbClr val="94A3B8"/>
                </a:solidFill>
                <a:latin typeface="Calibri" pitchFamily="34" charset="0"/>
                <a:ea typeface="Calibri" pitchFamily="34" charset="-122"/>
                <a:cs typeface="Calibri" pitchFamily="34" charset="-120"/>
              </a:rPr>
              <a:t>›</a:t>
            </a:r>
            <a:endParaRPr lang="en-US" sz="1800" dirty="0"/>
          </a:p>
        </p:txBody>
      </p:sp>
      <p:sp>
        <p:nvSpPr>
          <p:cNvPr id="18" name="Shape 16"/>
          <p:cNvSpPr/>
          <p:nvPr/>
        </p:nvSpPr>
        <p:spPr>
          <a:xfrm>
            <a:off x="3877056" y="1554480"/>
            <a:ext cx="1600200" cy="2286000"/>
          </a:xfrm>
          <a:prstGeom prst="roundRect">
            <a:avLst>
              <a:gd name="adj" fmla="val 5714"/>
            </a:avLst>
          </a:prstGeom>
          <a:solidFill>
            <a:srgbClr val="F1F5F9"/>
          </a:solidFill>
          <a:ln/>
        </p:spPr>
        <p:txBody>
          <a:bodyPr/>
          <a:lstStyle/>
          <a:p>
            <a:endParaRPr lang="es-CL"/>
          </a:p>
        </p:txBody>
      </p:sp>
      <p:sp>
        <p:nvSpPr>
          <p:cNvPr id="19" name="Text 17"/>
          <p:cNvSpPr txBox="1"/>
          <p:nvPr/>
        </p:nvSpPr>
        <p:spPr>
          <a:xfrm>
            <a:off x="3877056" y="1691640"/>
            <a:ext cx="1600200" cy="41148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20" name="Text 18"/>
          <p:cNvSpPr txBox="1"/>
          <p:nvPr/>
        </p:nvSpPr>
        <p:spPr>
          <a:xfrm>
            <a:off x="3968496" y="2148840"/>
            <a:ext cx="1417320" cy="274320"/>
          </a:xfrm>
          <a:prstGeom prst="rect">
            <a:avLst/>
          </a:prstGeom>
          <a:noFill/>
          <a:ln/>
        </p:spPr>
        <p:txBody>
          <a:bodyPr wrap="square" lIns="0" tIns="0" rIns="0" bIns="0" rtlCol="0" anchor="ctr"/>
          <a:lstStyle/>
          <a:p>
            <a:pPr marL="0" indent="0" algn="ctr">
              <a:buNone/>
            </a:pPr>
            <a:r>
              <a:rPr lang="en-US" sz="1200" b="1" dirty="0">
                <a:solidFill>
                  <a:srgbClr val="0F172A"/>
                </a:solidFill>
                <a:latin typeface="Calibri" pitchFamily="34" charset="0"/>
                <a:ea typeface="Calibri" pitchFamily="34" charset="-122"/>
                <a:cs typeface="Calibri" pitchFamily="34" charset="-120"/>
              </a:rPr>
              <a:t>Desplegar</a:t>
            </a:r>
            <a:endParaRPr lang="en-US" sz="1200" dirty="0"/>
          </a:p>
        </p:txBody>
      </p:sp>
      <p:sp>
        <p:nvSpPr>
          <p:cNvPr id="21" name="Shape 19"/>
          <p:cNvSpPr/>
          <p:nvPr/>
        </p:nvSpPr>
        <p:spPr>
          <a:xfrm>
            <a:off x="4425696" y="2468880"/>
            <a:ext cx="502920" cy="27432"/>
          </a:xfrm>
          <a:prstGeom prst="rect">
            <a:avLst/>
          </a:prstGeom>
          <a:solidFill>
            <a:srgbClr val="F59E0B"/>
          </a:solidFill>
          <a:ln/>
        </p:spPr>
        <p:txBody>
          <a:bodyPr/>
          <a:lstStyle/>
          <a:p>
            <a:endParaRPr lang="es-CL"/>
          </a:p>
        </p:txBody>
      </p:sp>
      <p:sp>
        <p:nvSpPr>
          <p:cNvPr id="22" name="Text 20"/>
          <p:cNvSpPr txBox="1"/>
          <p:nvPr/>
        </p:nvSpPr>
        <p:spPr>
          <a:xfrm>
            <a:off x="3968496" y="2606040"/>
            <a:ext cx="1417320" cy="914400"/>
          </a:xfrm>
          <a:prstGeom prst="rect">
            <a:avLst/>
          </a:prstGeom>
          <a:noFill/>
          <a:ln/>
        </p:spPr>
        <p:txBody>
          <a:bodyPr wrap="square" lIns="0" tIns="0" rIns="0" bIns="0" rtlCol="0" anchor="ctr"/>
          <a:lstStyle/>
          <a:p>
            <a:pPr marL="0" indent="0" algn="ctr">
              <a:lnSpc>
                <a:spcPct val="130000"/>
              </a:lnSpc>
              <a:buNone/>
            </a:pPr>
            <a:r>
              <a:rPr lang="en-US" sz="900" dirty="0">
                <a:solidFill>
                  <a:srgbClr val="64748B"/>
                </a:solidFill>
                <a:latin typeface="Calibri" pitchFamily="34" charset="0"/>
                <a:ea typeface="Calibri" pitchFamily="34" charset="-122"/>
                <a:cs typeface="Calibri" pitchFamily="34" charset="-120"/>
              </a:rPr>
              <a:t>Git push → build automático en Vercel</a:t>
            </a:r>
            <a:endParaRPr lang="en-US" sz="900" dirty="0"/>
          </a:p>
        </p:txBody>
      </p:sp>
      <p:sp>
        <p:nvSpPr>
          <p:cNvPr id="23" name="Text 21"/>
          <p:cNvSpPr txBox="1"/>
          <p:nvPr/>
        </p:nvSpPr>
        <p:spPr>
          <a:xfrm>
            <a:off x="5431536" y="2377440"/>
            <a:ext cx="274320" cy="274320"/>
          </a:xfrm>
          <a:prstGeom prst="rect">
            <a:avLst/>
          </a:prstGeom>
          <a:noFill/>
          <a:ln/>
        </p:spPr>
        <p:txBody>
          <a:bodyPr wrap="square" lIns="0" tIns="0" rIns="0" bIns="0" rtlCol="0" anchor="ctr"/>
          <a:lstStyle/>
          <a:p>
            <a:pPr marL="0" indent="0" algn="ctr">
              <a:buNone/>
            </a:pPr>
            <a:r>
              <a:rPr lang="en-US" sz="1800" dirty="0">
                <a:solidFill>
                  <a:srgbClr val="94A3B8"/>
                </a:solidFill>
                <a:latin typeface="Calibri" pitchFamily="34" charset="0"/>
                <a:ea typeface="Calibri" pitchFamily="34" charset="-122"/>
                <a:cs typeface="Calibri" pitchFamily="34" charset="-120"/>
              </a:rPr>
              <a:t>›</a:t>
            </a:r>
            <a:endParaRPr lang="en-US" sz="1800" dirty="0"/>
          </a:p>
        </p:txBody>
      </p:sp>
      <p:sp>
        <p:nvSpPr>
          <p:cNvPr id="24" name="Shape 22"/>
          <p:cNvSpPr/>
          <p:nvPr/>
        </p:nvSpPr>
        <p:spPr>
          <a:xfrm>
            <a:off x="5632704" y="1554480"/>
            <a:ext cx="1600200" cy="2286000"/>
          </a:xfrm>
          <a:prstGeom prst="roundRect">
            <a:avLst>
              <a:gd name="adj" fmla="val 5714"/>
            </a:avLst>
          </a:prstGeom>
          <a:solidFill>
            <a:srgbClr val="F1F5F9"/>
          </a:solidFill>
          <a:ln/>
        </p:spPr>
        <p:txBody>
          <a:bodyPr/>
          <a:lstStyle/>
          <a:p>
            <a:endParaRPr lang="es-CL"/>
          </a:p>
        </p:txBody>
      </p:sp>
      <p:sp>
        <p:nvSpPr>
          <p:cNvPr id="25" name="Text 23"/>
          <p:cNvSpPr txBox="1"/>
          <p:nvPr/>
        </p:nvSpPr>
        <p:spPr>
          <a:xfrm>
            <a:off x="5632704" y="1691640"/>
            <a:ext cx="1600200" cy="41148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26" name="Text 24"/>
          <p:cNvSpPr txBox="1"/>
          <p:nvPr/>
        </p:nvSpPr>
        <p:spPr>
          <a:xfrm>
            <a:off x="5724144" y="2148840"/>
            <a:ext cx="1417320" cy="274320"/>
          </a:xfrm>
          <a:prstGeom prst="rect">
            <a:avLst/>
          </a:prstGeom>
          <a:noFill/>
          <a:ln/>
        </p:spPr>
        <p:txBody>
          <a:bodyPr wrap="square" lIns="0" tIns="0" rIns="0" bIns="0" rtlCol="0" anchor="ctr"/>
          <a:lstStyle/>
          <a:p>
            <a:pPr marL="0" indent="0" algn="ctr">
              <a:buNone/>
            </a:pPr>
            <a:r>
              <a:rPr lang="en-US" sz="1200" b="1" dirty="0">
                <a:solidFill>
                  <a:srgbClr val="0F172A"/>
                </a:solidFill>
                <a:latin typeface="Calibri" pitchFamily="34" charset="0"/>
                <a:ea typeface="Calibri" pitchFamily="34" charset="-122"/>
                <a:cs typeface="Calibri" pitchFamily="34" charset="-120"/>
              </a:rPr>
              <a:t>Validar</a:t>
            </a:r>
            <a:endParaRPr lang="en-US" sz="1200" dirty="0"/>
          </a:p>
        </p:txBody>
      </p:sp>
      <p:sp>
        <p:nvSpPr>
          <p:cNvPr id="27" name="Shape 25"/>
          <p:cNvSpPr/>
          <p:nvPr/>
        </p:nvSpPr>
        <p:spPr>
          <a:xfrm>
            <a:off x="6181344" y="2468880"/>
            <a:ext cx="502920" cy="27432"/>
          </a:xfrm>
          <a:prstGeom prst="rect">
            <a:avLst/>
          </a:prstGeom>
          <a:solidFill>
            <a:srgbClr val="06B6D4"/>
          </a:solidFill>
          <a:ln/>
        </p:spPr>
        <p:txBody>
          <a:bodyPr/>
          <a:lstStyle/>
          <a:p>
            <a:endParaRPr lang="es-CL"/>
          </a:p>
        </p:txBody>
      </p:sp>
      <p:sp>
        <p:nvSpPr>
          <p:cNvPr id="28" name="Text 26"/>
          <p:cNvSpPr txBox="1"/>
          <p:nvPr/>
        </p:nvSpPr>
        <p:spPr>
          <a:xfrm>
            <a:off x="5724144" y="2606040"/>
            <a:ext cx="1417320" cy="914400"/>
          </a:xfrm>
          <a:prstGeom prst="rect">
            <a:avLst/>
          </a:prstGeom>
          <a:noFill/>
          <a:ln/>
        </p:spPr>
        <p:txBody>
          <a:bodyPr wrap="square" lIns="0" tIns="0" rIns="0" bIns="0" rtlCol="0" anchor="ctr"/>
          <a:lstStyle/>
          <a:p>
            <a:pPr marL="0" indent="0" algn="ctr">
              <a:lnSpc>
                <a:spcPct val="130000"/>
              </a:lnSpc>
              <a:buNone/>
            </a:pPr>
            <a:r>
              <a:rPr lang="en-US" sz="900" dirty="0">
                <a:solidFill>
                  <a:srgbClr val="64748B"/>
                </a:solidFill>
                <a:latin typeface="Calibri" pitchFamily="34" charset="0"/>
                <a:ea typeface="Calibri" pitchFamily="34" charset="-122"/>
                <a:cs typeface="Calibri" pitchFamily="34" charset="-120"/>
              </a:rPr>
              <a:t>Testing en producción con datos y tráfico real</a:t>
            </a:r>
            <a:endParaRPr lang="en-US" sz="900" dirty="0"/>
          </a:p>
        </p:txBody>
      </p:sp>
      <p:sp>
        <p:nvSpPr>
          <p:cNvPr id="29" name="Text 27"/>
          <p:cNvSpPr txBox="1"/>
          <p:nvPr/>
        </p:nvSpPr>
        <p:spPr>
          <a:xfrm>
            <a:off x="7187184" y="2377440"/>
            <a:ext cx="274320" cy="274320"/>
          </a:xfrm>
          <a:prstGeom prst="rect">
            <a:avLst/>
          </a:prstGeom>
          <a:noFill/>
          <a:ln/>
        </p:spPr>
        <p:txBody>
          <a:bodyPr wrap="square" lIns="0" tIns="0" rIns="0" bIns="0" rtlCol="0" anchor="ctr"/>
          <a:lstStyle/>
          <a:p>
            <a:pPr marL="0" indent="0" algn="ctr">
              <a:buNone/>
            </a:pPr>
            <a:r>
              <a:rPr lang="en-US" sz="1800" dirty="0">
                <a:solidFill>
                  <a:srgbClr val="94A3B8"/>
                </a:solidFill>
                <a:latin typeface="Calibri" pitchFamily="34" charset="0"/>
                <a:ea typeface="Calibri" pitchFamily="34" charset="-122"/>
                <a:cs typeface="Calibri" pitchFamily="34" charset="-120"/>
              </a:rPr>
              <a:t>›</a:t>
            </a:r>
            <a:endParaRPr lang="en-US" sz="1800" dirty="0"/>
          </a:p>
        </p:txBody>
      </p:sp>
      <p:sp>
        <p:nvSpPr>
          <p:cNvPr id="30" name="Shape 28"/>
          <p:cNvSpPr/>
          <p:nvPr/>
        </p:nvSpPr>
        <p:spPr>
          <a:xfrm>
            <a:off x="7388352" y="1554480"/>
            <a:ext cx="1600200" cy="2286000"/>
          </a:xfrm>
          <a:prstGeom prst="roundRect">
            <a:avLst>
              <a:gd name="adj" fmla="val 5714"/>
            </a:avLst>
          </a:prstGeom>
          <a:solidFill>
            <a:srgbClr val="F1F5F9"/>
          </a:solidFill>
          <a:ln/>
        </p:spPr>
        <p:txBody>
          <a:bodyPr/>
          <a:lstStyle/>
          <a:p>
            <a:endParaRPr lang="es-CL"/>
          </a:p>
        </p:txBody>
      </p:sp>
      <p:sp>
        <p:nvSpPr>
          <p:cNvPr id="31" name="Text 29"/>
          <p:cNvSpPr txBox="1"/>
          <p:nvPr/>
        </p:nvSpPr>
        <p:spPr>
          <a:xfrm>
            <a:off x="7388352" y="1691640"/>
            <a:ext cx="1600200" cy="41148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32" name="Text 30"/>
          <p:cNvSpPr txBox="1"/>
          <p:nvPr/>
        </p:nvSpPr>
        <p:spPr>
          <a:xfrm>
            <a:off x="7479792" y="2148840"/>
            <a:ext cx="1417320" cy="274320"/>
          </a:xfrm>
          <a:prstGeom prst="rect">
            <a:avLst/>
          </a:prstGeom>
          <a:noFill/>
          <a:ln/>
        </p:spPr>
        <p:txBody>
          <a:bodyPr wrap="square" lIns="0" tIns="0" rIns="0" bIns="0" rtlCol="0" anchor="ctr"/>
          <a:lstStyle/>
          <a:p>
            <a:pPr marL="0" indent="0" algn="ctr">
              <a:buNone/>
            </a:pPr>
            <a:r>
              <a:rPr lang="en-US" sz="1200" b="1" dirty="0">
                <a:solidFill>
                  <a:srgbClr val="0F172A"/>
                </a:solidFill>
                <a:latin typeface="Calibri" pitchFamily="34" charset="0"/>
                <a:ea typeface="Calibri" pitchFamily="34" charset="-122"/>
                <a:cs typeface="Calibri" pitchFamily="34" charset="-120"/>
              </a:rPr>
              <a:t>Iterar</a:t>
            </a:r>
            <a:endParaRPr lang="en-US" sz="1200" dirty="0"/>
          </a:p>
        </p:txBody>
      </p:sp>
      <p:sp>
        <p:nvSpPr>
          <p:cNvPr id="33" name="Shape 31"/>
          <p:cNvSpPr/>
          <p:nvPr/>
        </p:nvSpPr>
        <p:spPr>
          <a:xfrm>
            <a:off x="7936992" y="2468880"/>
            <a:ext cx="502920" cy="27432"/>
          </a:xfrm>
          <a:prstGeom prst="rect">
            <a:avLst/>
          </a:prstGeom>
          <a:solidFill>
            <a:srgbClr val="8B5CF6"/>
          </a:solidFill>
          <a:ln/>
        </p:spPr>
        <p:txBody>
          <a:bodyPr/>
          <a:lstStyle/>
          <a:p>
            <a:endParaRPr lang="es-CL"/>
          </a:p>
        </p:txBody>
      </p:sp>
      <p:sp>
        <p:nvSpPr>
          <p:cNvPr id="34" name="Text 32"/>
          <p:cNvSpPr txBox="1"/>
          <p:nvPr/>
        </p:nvSpPr>
        <p:spPr>
          <a:xfrm>
            <a:off x="7479792" y="2606040"/>
            <a:ext cx="1417320" cy="914400"/>
          </a:xfrm>
          <a:prstGeom prst="rect">
            <a:avLst/>
          </a:prstGeom>
          <a:noFill/>
          <a:ln/>
        </p:spPr>
        <p:txBody>
          <a:bodyPr wrap="square" lIns="0" tIns="0" rIns="0" bIns="0" rtlCol="0" anchor="ctr"/>
          <a:lstStyle/>
          <a:p>
            <a:pPr marL="0" indent="0" algn="ctr">
              <a:lnSpc>
                <a:spcPct val="130000"/>
              </a:lnSpc>
              <a:buNone/>
            </a:pPr>
            <a:r>
              <a:rPr lang="en-US" sz="900" dirty="0">
                <a:solidFill>
                  <a:srgbClr val="64748B"/>
                </a:solidFill>
                <a:latin typeface="Calibri" pitchFamily="34" charset="0"/>
                <a:ea typeface="Calibri" pitchFamily="34" charset="-122"/>
                <a:cs typeface="Calibri" pitchFamily="34" charset="-120"/>
              </a:rPr>
              <a:t>Correcciones basadas en resultados medidos</a:t>
            </a:r>
            <a:endParaRPr lang="en-US" sz="900" dirty="0"/>
          </a:p>
        </p:txBody>
      </p:sp>
      <p:sp>
        <p:nvSpPr>
          <p:cNvPr id="35" name="Shape 33"/>
          <p:cNvSpPr/>
          <p:nvPr/>
        </p:nvSpPr>
        <p:spPr>
          <a:xfrm>
            <a:off x="548640" y="4069080"/>
            <a:ext cx="8046720" cy="457200"/>
          </a:xfrm>
          <a:prstGeom prst="roundRect">
            <a:avLst>
              <a:gd name="adj" fmla="val 12000"/>
            </a:avLst>
          </a:prstGeom>
          <a:solidFill>
            <a:srgbClr val="F1F5F9"/>
          </a:solidFill>
          <a:ln/>
        </p:spPr>
        <p:txBody>
          <a:bodyPr/>
          <a:lstStyle/>
          <a:p>
            <a:endParaRPr lang="es-CL"/>
          </a:p>
        </p:txBody>
      </p:sp>
      <p:sp>
        <p:nvSpPr>
          <p:cNvPr id="36" name="Text 34"/>
          <p:cNvSpPr txBox="1"/>
          <p:nvPr/>
        </p:nvSpPr>
        <p:spPr>
          <a:xfrm>
            <a:off x="731520" y="4069080"/>
            <a:ext cx="7680960" cy="45720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  Luis Lagos — Desarrollador  ·  Marcelo Boetto — QA  ·  Gonzalo Díaz — Documentación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p:spPr>
        <p:txBody>
          <a:bodyPr/>
          <a:lstStyle/>
          <a:p>
            <a:endParaRPr lang="es-CL"/>
          </a:p>
        </p:txBody>
      </p:sp>
      <p:sp>
        <p:nvSpPr>
          <p:cNvPr id="3" name="Text 1"/>
          <p:cNvSpPr txBox="1"/>
          <p:nvPr/>
        </p:nvSpPr>
        <p:spPr>
          <a:xfrm>
            <a:off x="548640" y="365760"/>
            <a:ext cx="4572000" cy="228600"/>
          </a:xfrm>
          <a:prstGeom prst="rect">
            <a:avLst/>
          </a:prstGeom>
          <a:noFill/>
          <a:ln/>
        </p:spPr>
        <p:txBody>
          <a:bodyPr wrap="square" lIns="0" tIns="0" rIns="0" bIns="0" rtlCol="0" anchor="ctr"/>
          <a:lstStyle/>
          <a:p>
            <a:pPr marL="0" indent="0">
              <a:buNone/>
            </a:pPr>
            <a:r>
              <a:rPr lang="en-US" sz="1000" b="1" dirty="0">
                <a:solidFill>
                  <a:srgbClr val="2563EB"/>
                </a:solidFill>
                <a:latin typeface="Calibri" pitchFamily="34" charset="0"/>
                <a:ea typeface="Calibri" pitchFamily="34" charset="-122"/>
                <a:cs typeface="Calibri" pitchFamily="34" charset="-120"/>
              </a:rPr>
              <a:t>05 · ARQUITECTURA</a:t>
            </a:r>
            <a:endParaRPr lang="en-US" sz="1000" dirty="0"/>
          </a:p>
        </p:txBody>
      </p:sp>
      <p:sp>
        <p:nvSpPr>
          <p:cNvPr id="4" name="Text 2"/>
          <p:cNvSpPr txBox="1"/>
          <p:nvPr/>
        </p:nvSpPr>
        <p:spPr>
          <a:xfrm>
            <a:off x="548640" y="640080"/>
            <a:ext cx="7315200" cy="36576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Stack Tecnológico</a:t>
            </a:r>
            <a:endParaRPr lang="en-US" sz="2200" dirty="0"/>
          </a:p>
        </p:txBody>
      </p:sp>
      <p:sp>
        <p:nvSpPr>
          <p:cNvPr id="5" name="Shape 3"/>
          <p:cNvSpPr/>
          <p:nvPr/>
        </p:nvSpPr>
        <p:spPr>
          <a:xfrm>
            <a:off x="548640" y="1143000"/>
            <a:ext cx="8046720" cy="530352"/>
          </a:xfrm>
          <a:prstGeom prst="roundRect">
            <a:avLst>
              <a:gd name="adj" fmla="val 10345"/>
            </a:avLst>
          </a:prstGeom>
          <a:solidFill>
            <a:srgbClr val="F1F5F9"/>
          </a:solidFill>
          <a:ln/>
        </p:spPr>
        <p:txBody>
          <a:bodyPr/>
          <a:lstStyle/>
          <a:p>
            <a:endParaRPr lang="es-CL"/>
          </a:p>
        </p:txBody>
      </p:sp>
      <p:sp>
        <p:nvSpPr>
          <p:cNvPr id="6" name="Shape 4"/>
          <p:cNvSpPr/>
          <p:nvPr/>
        </p:nvSpPr>
        <p:spPr>
          <a:xfrm>
            <a:off x="548640" y="1143000"/>
            <a:ext cx="45720" cy="530352"/>
          </a:xfrm>
          <a:prstGeom prst="rect">
            <a:avLst/>
          </a:prstGeom>
          <a:solidFill>
            <a:srgbClr val="2563EB"/>
          </a:solidFill>
          <a:ln/>
        </p:spPr>
        <p:txBody>
          <a:bodyPr/>
          <a:lstStyle/>
          <a:p>
            <a:endParaRPr lang="es-CL"/>
          </a:p>
        </p:txBody>
      </p:sp>
      <p:sp>
        <p:nvSpPr>
          <p:cNvPr id="7" name="Text 5"/>
          <p:cNvSpPr txBox="1"/>
          <p:nvPr/>
        </p:nvSpPr>
        <p:spPr>
          <a:xfrm>
            <a:off x="777240" y="1188720"/>
            <a:ext cx="2286000" cy="182880"/>
          </a:xfrm>
          <a:prstGeom prst="rect">
            <a:avLst/>
          </a:prstGeom>
          <a:noFill/>
          <a:ln/>
        </p:spPr>
        <p:txBody>
          <a:bodyPr wrap="square" lIns="0" tIns="0" rIns="0" bIns="0" rtlCol="0" anchor="ctr"/>
          <a:lstStyle/>
          <a:p>
            <a:pPr marL="0" indent="0">
              <a:buNone/>
            </a:pPr>
            <a:r>
              <a:rPr lang="en-US" sz="800" b="1" dirty="0">
                <a:solidFill>
                  <a:srgbClr val="2563EB"/>
                </a:solidFill>
                <a:latin typeface="Calibri" pitchFamily="34" charset="0"/>
                <a:ea typeface="Calibri" pitchFamily="34" charset="-122"/>
                <a:cs typeface="Calibri" pitchFamily="34" charset="-120"/>
              </a:rPr>
              <a:t>FRONTEND</a:t>
            </a:r>
            <a:endParaRPr lang="en-US" sz="800" dirty="0"/>
          </a:p>
        </p:txBody>
      </p:sp>
      <p:sp>
        <p:nvSpPr>
          <p:cNvPr id="8" name="Text 6"/>
          <p:cNvSpPr txBox="1"/>
          <p:nvPr/>
        </p:nvSpPr>
        <p:spPr>
          <a:xfrm>
            <a:off x="777240" y="1399032"/>
            <a:ext cx="7589520" cy="22860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Next.js 14 · TypeScript · React · Tailwind CSS</a:t>
            </a:r>
            <a:endParaRPr lang="en-US" sz="1100" dirty="0"/>
          </a:p>
        </p:txBody>
      </p:sp>
      <p:sp>
        <p:nvSpPr>
          <p:cNvPr id="9" name="Shape 7"/>
          <p:cNvSpPr/>
          <p:nvPr/>
        </p:nvSpPr>
        <p:spPr>
          <a:xfrm>
            <a:off x="548640" y="1783080"/>
            <a:ext cx="8046720" cy="530352"/>
          </a:xfrm>
          <a:prstGeom prst="roundRect">
            <a:avLst>
              <a:gd name="adj" fmla="val 10345"/>
            </a:avLst>
          </a:prstGeom>
          <a:solidFill>
            <a:srgbClr val="F1F5F9"/>
          </a:solidFill>
          <a:ln/>
        </p:spPr>
        <p:txBody>
          <a:bodyPr/>
          <a:lstStyle/>
          <a:p>
            <a:endParaRPr lang="es-CL"/>
          </a:p>
        </p:txBody>
      </p:sp>
      <p:sp>
        <p:nvSpPr>
          <p:cNvPr id="10" name="Shape 8"/>
          <p:cNvSpPr/>
          <p:nvPr/>
        </p:nvSpPr>
        <p:spPr>
          <a:xfrm>
            <a:off x="548640" y="1783080"/>
            <a:ext cx="45720" cy="530352"/>
          </a:xfrm>
          <a:prstGeom prst="rect">
            <a:avLst/>
          </a:prstGeom>
          <a:solidFill>
            <a:srgbClr val="10B981"/>
          </a:solidFill>
          <a:ln/>
        </p:spPr>
        <p:txBody>
          <a:bodyPr/>
          <a:lstStyle/>
          <a:p>
            <a:endParaRPr lang="es-CL"/>
          </a:p>
        </p:txBody>
      </p:sp>
      <p:sp>
        <p:nvSpPr>
          <p:cNvPr id="11" name="Text 9"/>
          <p:cNvSpPr txBox="1"/>
          <p:nvPr/>
        </p:nvSpPr>
        <p:spPr>
          <a:xfrm>
            <a:off x="777240" y="1828800"/>
            <a:ext cx="2286000" cy="182880"/>
          </a:xfrm>
          <a:prstGeom prst="rect">
            <a:avLst/>
          </a:prstGeom>
          <a:noFill/>
          <a:ln/>
        </p:spPr>
        <p:txBody>
          <a:bodyPr wrap="square" lIns="0" tIns="0" rIns="0" bIns="0" rtlCol="0" anchor="ctr"/>
          <a:lstStyle/>
          <a:p>
            <a:pPr marL="0" indent="0">
              <a:buNone/>
            </a:pPr>
            <a:r>
              <a:rPr lang="en-US" sz="800" b="1" dirty="0">
                <a:solidFill>
                  <a:srgbClr val="10B981"/>
                </a:solidFill>
                <a:latin typeface="Calibri" pitchFamily="34" charset="0"/>
                <a:ea typeface="Calibri" pitchFamily="34" charset="-122"/>
                <a:cs typeface="Calibri" pitchFamily="34" charset="-120"/>
              </a:rPr>
              <a:t>BACKEND</a:t>
            </a:r>
            <a:endParaRPr lang="en-US" sz="800" dirty="0"/>
          </a:p>
        </p:txBody>
      </p:sp>
      <p:sp>
        <p:nvSpPr>
          <p:cNvPr id="12" name="Text 10"/>
          <p:cNvSpPr txBox="1"/>
          <p:nvPr/>
        </p:nvSpPr>
        <p:spPr>
          <a:xfrm>
            <a:off x="777240" y="2039112"/>
            <a:ext cx="7589520" cy="22860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API Routes · Prisma ORM · Webhooks bidireccionales · Crons programados</a:t>
            </a:r>
            <a:endParaRPr lang="en-US" sz="1100" dirty="0"/>
          </a:p>
        </p:txBody>
      </p:sp>
      <p:sp>
        <p:nvSpPr>
          <p:cNvPr id="13" name="Shape 11"/>
          <p:cNvSpPr/>
          <p:nvPr/>
        </p:nvSpPr>
        <p:spPr>
          <a:xfrm>
            <a:off x="548640" y="2423160"/>
            <a:ext cx="8046720" cy="530352"/>
          </a:xfrm>
          <a:prstGeom prst="roundRect">
            <a:avLst>
              <a:gd name="adj" fmla="val 10345"/>
            </a:avLst>
          </a:prstGeom>
          <a:solidFill>
            <a:srgbClr val="F1F5F9"/>
          </a:solidFill>
          <a:ln/>
        </p:spPr>
        <p:txBody>
          <a:bodyPr/>
          <a:lstStyle/>
          <a:p>
            <a:endParaRPr lang="es-CL"/>
          </a:p>
        </p:txBody>
      </p:sp>
      <p:sp>
        <p:nvSpPr>
          <p:cNvPr id="14" name="Shape 12"/>
          <p:cNvSpPr/>
          <p:nvPr/>
        </p:nvSpPr>
        <p:spPr>
          <a:xfrm>
            <a:off x="548640" y="2423160"/>
            <a:ext cx="45720" cy="530352"/>
          </a:xfrm>
          <a:prstGeom prst="rect">
            <a:avLst/>
          </a:prstGeom>
          <a:solidFill>
            <a:srgbClr val="F59E0B"/>
          </a:solidFill>
          <a:ln/>
        </p:spPr>
        <p:txBody>
          <a:bodyPr/>
          <a:lstStyle/>
          <a:p>
            <a:endParaRPr lang="es-CL"/>
          </a:p>
        </p:txBody>
      </p:sp>
      <p:sp>
        <p:nvSpPr>
          <p:cNvPr id="15" name="Text 13"/>
          <p:cNvSpPr txBox="1"/>
          <p:nvPr/>
        </p:nvSpPr>
        <p:spPr>
          <a:xfrm>
            <a:off x="777240" y="2468880"/>
            <a:ext cx="2286000" cy="182880"/>
          </a:xfrm>
          <a:prstGeom prst="rect">
            <a:avLst/>
          </a:prstGeom>
          <a:noFill/>
          <a:ln/>
        </p:spPr>
        <p:txBody>
          <a:bodyPr wrap="square" lIns="0" tIns="0" rIns="0" bIns="0" rtlCol="0" anchor="ctr"/>
          <a:lstStyle/>
          <a:p>
            <a:pPr marL="0" indent="0">
              <a:buNone/>
            </a:pPr>
            <a:r>
              <a:rPr lang="en-US" sz="800" b="1" dirty="0">
                <a:solidFill>
                  <a:srgbClr val="F59E0B"/>
                </a:solidFill>
                <a:latin typeface="Calibri" pitchFamily="34" charset="0"/>
                <a:ea typeface="Calibri" pitchFamily="34" charset="-122"/>
                <a:cs typeface="Calibri" pitchFamily="34" charset="-120"/>
              </a:rPr>
              <a:t>BASE DE DATOS</a:t>
            </a:r>
            <a:endParaRPr lang="en-US" sz="800" dirty="0"/>
          </a:p>
        </p:txBody>
      </p:sp>
      <p:sp>
        <p:nvSpPr>
          <p:cNvPr id="16" name="Text 14"/>
          <p:cNvSpPr txBox="1"/>
          <p:nvPr/>
        </p:nvSpPr>
        <p:spPr>
          <a:xfrm>
            <a:off x="777240" y="2679192"/>
            <a:ext cx="7589520" cy="22860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Supabase PostgreSQL </a:t>
            </a:r>
            <a:endParaRPr lang="en-US" sz="1100" dirty="0"/>
          </a:p>
        </p:txBody>
      </p:sp>
      <p:sp>
        <p:nvSpPr>
          <p:cNvPr id="17" name="Shape 15"/>
          <p:cNvSpPr/>
          <p:nvPr/>
        </p:nvSpPr>
        <p:spPr>
          <a:xfrm>
            <a:off x="548640" y="3063240"/>
            <a:ext cx="8046720" cy="530352"/>
          </a:xfrm>
          <a:prstGeom prst="roundRect">
            <a:avLst>
              <a:gd name="adj" fmla="val 10345"/>
            </a:avLst>
          </a:prstGeom>
          <a:solidFill>
            <a:srgbClr val="F1F5F9"/>
          </a:solidFill>
          <a:ln/>
        </p:spPr>
        <p:txBody>
          <a:bodyPr/>
          <a:lstStyle/>
          <a:p>
            <a:endParaRPr lang="es-CL"/>
          </a:p>
        </p:txBody>
      </p:sp>
      <p:sp>
        <p:nvSpPr>
          <p:cNvPr id="18" name="Shape 16"/>
          <p:cNvSpPr/>
          <p:nvPr/>
        </p:nvSpPr>
        <p:spPr>
          <a:xfrm>
            <a:off x="548640" y="3063240"/>
            <a:ext cx="45720" cy="530352"/>
          </a:xfrm>
          <a:prstGeom prst="rect">
            <a:avLst/>
          </a:prstGeom>
          <a:solidFill>
            <a:srgbClr val="06B6D4"/>
          </a:solidFill>
          <a:ln/>
        </p:spPr>
        <p:txBody>
          <a:bodyPr/>
          <a:lstStyle/>
          <a:p>
            <a:endParaRPr lang="es-CL"/>
          </a:p>
        </p:txBody>
      </p:sp>
      <p:sp>
        <p:nvSpPr>
          <p:cNvPr id="19" name="Text 17"/>
          <p:cNvSpPr txBox="1"/>
          <p:nvPr/>
        </p:nvSpPr>
        <p:spPr>
          <a:xfrm>
            <a:off x="777240" y="3108960"/>
            <a:ext cx="2286000" cy="182880"/>
          </a:xfrm>
          <a:prstGeom prst="rect">
            <a:avLst/>
          </a:prstGeom>
          <a:noFill/>
          <a:ln/>
        </p:spPr>
        <p:txBody>
          <a:bodyPr wrap="square" lIns="0" tIns="0" rIns="0" bIns="0" rtlCol="0" anchor="ctr"/>
          <a:lstStyle/>
          <a:p>
            <a:pPr marL="0" indent="0">
              <a:buNone/>
            </a:pPr>
            <a:r>
              <a:rPr lang="en-US" sz="800" b="1" dirty="0">
                <a:solidFill>
                  <a:srgbClr val="06B6D4"/>
                </a:solidFill>
                <a:latin typeface="Calibri" pitchFamily="34" charset="0"/>
                <a:ea typeface="Calibri" pitchFamily="34" charset="-122"/>
                <a:cs typeface="Calibri" pitchFamily="34" charset="-120"/>
              </a:rPr>
              <a:t>INFRAESTRUCTURA</a:t>
            </a:r>
            <a:endParaRPr lang="en-US" sz="800" dirty="0"/>
          </a:p>
        </p:txBody>
      </p:sp>
      <p:sp>
        <p:nvSpPr>
          <p:cNvPr id="20" name="Text 18"/>
          <p:cNvSpPr txBox="1"/>
          <p:nvPr/>
        </p:nvSpPr>
        <p:spPr>
          <a:xfrm>
            <a:off x="777240" y="3319272"/>
            <a:ext cx="7589520" cy="228600"/>
          </a:xfrm>
          <a:prstGeom prst="rect">
            <a:avLst/>
          </a:prstGeom>
          <a:noFill/>
          <a:ln/>
        </p:spPr>
        <p:txBody>
          <a:bodyPr wrap="square" lIns="0" tIns="0" rIns="0" bIns="0" rtlCol="0" anchor="ctr"/>
          <a:lstStyle/>
          <a:p>
            <a:pPr marL="0" indent="0">
              <a:buNone/>
            </a:pPr>
            <a:endParaRPr lang="en-US" sz="1100" dirty="0"/>
          </a:p>
        </p:txBody>
      </p:sp>
      <p:sp>
        <p:nvSpPr>
          <p:cNvPr id="21" name="Shape 19"/>
          <p:cNvSpPr/>
          <p:nvPr/>
        </p:nvSpPr>
        <p:spPr>
          <a:xfrm>
            <a:off x="548640" y="3703320"/>
            <a:ext cx="8046720" cy="530352"/>
          </a:xfrm>
          <a:prstGeom prst="roundRect">
            <a:avLst>
              <a:gd name="adj" fmla="val 10345"/>
            </a:avLst>
          </a:prstGeom>
          <a:solidFill>
            <a:srgbClr val="F1F5F9"/>
          </a:solidFill>
          <a:ln/>
        </p:spPr>
        <p:txBody>
          <a:bodyPr/>
          <a:lstStyle/>
          <a:p>
            <a:endParaRPr lang="es-CL"/>
          </a:p>
        </p:txBody>
      </p:sp>
      <p:sp>
        <p:nvSpPr>
          <p:cNvPr id="22" name="Shape 20"/>
          <p:cNvSpPr/>
          <p:nvPr/>
        </p:nvSpPr>
        <p:spPr>
          <a:xfrm>
            <a:off x="548640" y="3703320"/>
            <a:ext cx="45720" cy="530352"/>
          </a:xfrm>
          <a:prstGeom prst="rect">
            <a:avLst/>
          </a:prstGeom>
          <a:solidFill>
            <a:srgbClr val="8B5CF6"/>
          </a:solidFill>
          <a:ln/>
        </p:spPr>
        <p:txBody>
          <a:bodyPr/>
          <a:lstStyle/>
          <a:p>
            <a:endParaRPr lang="es-CL"/>
          </a:p>
        </p:txBody>
      </p:sp>
      <p:sp>
        <p:nvSpPr>
          <p:cNvPr id="23" name="Text 21"/>
          <p:cNvSpPr txBox="1"/>
          <p:nvPr/>
        </p:nvSpPr>
        <p:spPr>
          <a:xfrm>
            <a:off x="777240" y="3749040"/>
            <a:ext cx="2286000" cy="182880"/>
          </a:xfrm>
          <a:prstGeom prst="rect">
            <a:avLst/>
          </a:prstGeom>
          <a:noFill/>
          <a:ln/>
        </p:spPr>
        <p:txBody>
          <a:bodyPr wrap="square" lIns="0" tIns="0" rIns="0" bIns="0" rtlCol="0" anchor="ctr"/>
          <a:lstStyle/>
          <a:p>
            <a:pPr marL="0" indent="0">
              <a:buNone/>
            </a:pPr>
            <a:r>
              <a:rPr lang="en-US" sz="800" b="1" dirty="0">
                <a:solidFill>
                  <a:srgbClr val="8B5CF6"/>
                </a:solidFill>
                <a:latin typeface="Calibri" pitchFamily="34" charset="0"/>
                <a:ea typeface="Calibri" pitchFamily="34" charset="-122"/>
                <a:cs typeface="Calibri" pitchFamily="34" charset="-120"/>
              </a:rPr>
              <a:t>INTEGRACIONES</a:t>
            </a:r>
            <a:endParaRPr lang="en-US" sz="800" dirty="0"/>
          </a:p>
        </p:txBody>
      </p:sp>
      <p:sp>
        <p:nvSpPr>
          <p:cNvPr id="24" name="Text 22"/>
          <p:cNvSpPr txBox="1"/>
          <p:nvPr/>
        </p:nvSpPr>
        <p:spPr>
          <a:xfrm>
            <a:off x="777240" y="3959352"/>
            <a:ext cx="7589520" cy="22860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MercadoLibre API · WooCommerce · Shopify</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p:spPr>
        <p:txBody>
          <a:bodyPr/>
          <a:lstStyle/>
          <a:p>
            <a:endParaRPr lang="es-CL"/>
          </a:p>
        </p:txBody>
      </p:sp>
      <p:sp>
        <p:nvSpPr>
          <p:cNvPr id="3" name="Text 1"/>
          <p:cNvSpPr txBox="1"/>
          <p:nvPr/>
        </p:nvSpPr>
        <p:spPr>
          <a:xfrm>
            <a:off x="548640" y="274320"/>
            <a:ext cx="4572000" cy="228600"/>
          </a:xfrm>
          <a:prstGeom prst="rect">
            <a:avLst/>
          </a:prstGeom>
          <a:noFill/>
          <a:ln/>
        </p:spPr>
        <p:txBody>
          <a:bodyPr wrap="square" lIns="0" tIns="0" rIns="0" bIns="0" rtlCol="0" anchor="ctr"/>
          <a:lstStyle/>
          <a:p>
            <a:pPr marL="0" indent="0">
              <a:buNone/>
            </a:pPr>
            <a:r>
              <a:rPr lang="en-US" sz="1000" b="1" dirty="0">
                <a:solidFill>
                  <a:srgbClr val="2563EB"/>
                </a:solidFill>
                <a:latin typeface="Calibri" pitchFamily="34" charset="0"/>
                <a:ea typeface="Calibri" pitchFamily="34" charset="-122"/>
                <a:cs typeface="Calibri" pitchFamily="34" charset="-120"/>
              </a:rPr>
              <a:t>06 · PLAN DE TRABAJO</a:t>
            </a:r>
            <a:endParaRPr lang="en-US" sz="1000" dirty="0"/>
          </a:p>
        </p:txBody>
      </p:sp>
      <p:sp>
        <p:nvSpPr>
          <p:cNvPr id="4" name="Text 2"/>
          <p:cNvSpPr txBox="1"/>
          <p:nvPr/>
        </p:nvSpPr>
        <p:spPr>
          <a:xfrm>
            <a:off x="548640" y="502920"/>
            <a:ext cx="7315200" cy="320040"/>
          </a:xfrm>
          <a:prstGeom prst="rect">
            <a:avLst/>
          </a:prstGeom>
          <a:noFill/>
          <a:ln/>
        </p:spPr>
        <p:txBody>
          <a:bodyPr wrap="square" lIns="0" tIns="0" rIns="0" bIns="0" rtlCol="0" anchor="ctr"/>
          <a:lstStyle/>
          <a:p>
            <a:pPr marL="0" indent="0">
              <a:buNone/>
            </a:pPr>
            <a:r>
              <a:rPr lang="en-US" sz="2000" b="1" dirty="0">
                <a:solidFill>
                  <a:srgbClr val="0F172A"/>
                </a:solidFill>
                <a:latin typeface="Calibri" pitchFamily="34" charset="0"/>
                <a:ea typeface="Calibri" pitchFamily="34" charset="-122"/>
                <a:cs typeface="Calibri" pitchFamily="34" charset="-120"/>
              </a:rPr>
              <a:t>Carta Gantt — 18 Semanas</a:t>
            </a:r>
            <a:endParaRPr lang="en-US" sz="2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274320" y="914400"/>
          <a:ext cx="8577072" cy="3182112"/>
        </p:xfrm>
        <a:graphic>
          <a:graphicData uri="http://schemas.openxmlformats.org/drawingml/2006/table">
            <a:tbl>
              <a:tblPr/>
              <a:tblGrid>
                <a:gridCol w="1828800">
                  <a:extLst>
                    <a:ext uri="{9D8B030D-6E8A-4147-A177-3AD203B41FA5}">
                      <a16:colId xmlns:a16="http://schemas.microsoft.com/office/drawing/2014/main" val="20000"/>
                    </a:ext>
                  </a:extLst>
                </a:gridCol>
                <a:gridCol w="374904">
                  <a:extLst>
                    <a:ext uri="{9D8B030D-6E8A-4147-A177-3AD203B41FA5}">
                      <a16:colId xmlns:a16="http://schemas.microsoft.com/office/drawing/2014/main" val="20001"/>
                    </a:ext>
                  </a:extLst>
                </a:gridCol>
                <a:gridCol w="374904">
                  <a:extLst>
                    <a:ext uri="{9D8B030D-6E8A-4147-A177-3AD203B41FA5}">
                      <a16:colId xmlns:a16="http://schemas.microsoft.com/office/drawing/2014/main" val="20002"/>
                    </a:ext>
                  </a:extLst>
                </a:gridCol>
                <a:gridCol w="374904">
                  <a:extLst>
                    <a:ext uri="{9D8B030D-6E8A-4147-A177-3AD203B41FA5}">
                      <a16:colId xmlns:a16="http://schemas.microsoft.com/office/drawing/2014/main" val="20003"/>
                    </a:ext>
                  </a:extLst>
                </a:gridCol>
                <a:gridCol w="374904">
                  <a:extLst>
                    <a:ext uri="{9D8B030D-6E8A-4147-A177-3AD203B41FA5}">
                      <a16:colId xmlns:a16="http://schemas.microsoft.com/office/drawing/2014/main" val="20004"/>
                    </a:ext>
                  </a:extLst>
                </a:gridCol>
                <a:gridCol w="374904">
                  <a:extLst>
                    <a:ext uri="{9D8B030D-6E8A-4147-A177-3AD203B41FA5}">
                      <a16:colId xmlns:a16="http://schemas.microsoft.com/office/drawing/2014/main" val="20005"/>
                    </a:ext>
                  </a:extLst>
                </a:gridCol>
                <a:gridCol w="374904">
                  <a:extLst>
                    <a:ext uri="{9D8B030D-6E8A-4147-A177-3AD203B41FA5}">
                      <a16:colId xmlns:a16="http://schemas.microsoft.com/office/drawing/2014/main" val="20006"/>
                    </a:ext>
                  </a:extLst>
                </a:gridCol>
                <a:gridCol w="374904">
                  <a:extLst>
                    <a:ext uri="{9D8B030D-6E8A-4147-A177-3AD203B41FA5}">
                      <a16:colId xmlns:a16="http://schemas.microsoft.com/office/drawing/2014/main" val="20007"/>
                    </a:ext>
                  </a:extLst>
                </a:gridCol>
                <a:gridCol w="374904">
                  <a:extLst>
                    <a:ext uri="{9D8B030D-6E8A-4147-A177-3AD203B41FA5}">
                      <a16:colId xmlns:a16="http://schemas.microsoft.com/office/drawing/2014/main" val="20008"/>
                    </a:ext>
                  </a:extLst>
                </a:gridCol>
                <a:gridCol w="374904">
                  <a:extLst>
                    <a:ext uri="{9D8B030D-6E8A-4147-A177-3AD203B41FA5}">
                      <a16:colId xmlns:a16="http://schemas.microsoft.com/office/drawing/2014/main" val="20009"/>
                    </a:ext>
                  </a:extLst>
                </a:gridCol>
                <a:gridCol w="374904">
                  <a:extLst>
                    <a:ext uri="{9D8B030D-6E8A-4147-A177-3AD203B41FA5}">
                      <a16:colId xmlns:a16="http://schemas.microsoft.com/office/drawing/2014/main" val="20010"/>
                    </a:ext>
                  </a:extLst>
                </a:gridCol>
                <a:gridCol w="374904">
                  <a:extLst>
                    <a:ext uri="{9D8B030D-6E8A-4147-A177-3AD203B41FA5}">
                      <a16:colId xmlns:a16="http://schemas.microsoft.com/office/drawing/2014/main" val="20011"/>
                    </a:ext>
                  </a:extLst>
                </a:gridCol>
                <a:gridCol w="374904">
                  <a:extLst>
                    <a:ext uri="{9D8B030D-6E8A-4147-A177-3AD203B41FA5}">
                      <a16:colId xmlns:a16="http://schemas.microsoft.com/office/drawing/2014/main" val="20012"/>
                    </a:ext>
                  </a:extLst>
                </a:gridCol>
                <a:gridCol w="374904">
                  <a:extLst>
                    <a:ext uri="{9D8B030D-6E8A-4147-A177-3AD203B41FA5}">
                      <a16:colId xmlns:a16="http://schemas.microsoft.com/office/drawing/2014/main" val="20013"/>
                    </a:ext>
                  </a:extLst>
                </a:gridCol>
                <a:gridCol w="374904">
                  <a:extLst>
                    <a:ext uri="{9D8B030D-6E8A-4147-A177-3AD203B41FA5}">
                      <a16:colId xmlns:a16="http://schemas.microsoft.com/office/drawing/2014/main" val="20014"/>
                    </a:ext>
                  </a:extLst>
                </a:gridCol>
                <a:gridCol w="374904">
                  <a:extLst>
                    <a:ext uri="{9D8B030D-6E8A-4147-A177-3AD203B41FA5}">
                      <a16:colId xmlns:a16="http://schemas.microsoft.com/office/drawing/2014/main" val="20015"/>
                    </a:ext>
                  </a:extLst>
                </a:gridCol>
                <a:gridCol w="374904">
                  <a:extLst>
                    <a:ext uri="{9D8B030D-6E8A-4147-A177-3AD203B41FA5}">
                      <a16:colId xmlns:a16="http://schemas.microsoft.com/office/drawing/2014/main" val="20016"/>
                    </a:ext>
                  </a:extLst>
                </a:gridCol>
                <a:gridCol w="374904">
                  <a:extLst>
                    <a:ext uri="{9D8B030D-6E8A-4147-A177-3AD203B41FA5}">
                      <a16:colId xmlns:a16="http://schemas.microsoft.com/office/drawing/2014/main" val="20017"/>
                    </a:ext>
                  </a:extLst>
                </a:gridCol>
                <a:gridCol w="374904">
                  <a:extLst>
                    <a:ext uri="{9D8B030D-6E8A-4147-A177-3AD203B41FA5}">
                      <a16:colId xmlns:a16="http://schemas.microsoft.com/office/drawing/2014/main" val="20018"/>
                    </a:ext>
                  </a:extLst>
                </a:gridCol>
              </a:tblGrid>
              <a:tr h="256032">
                <a:tc>
                  <a:txBody>
                    <a:bodyPr/>
                    <a:lstStyle/>
                    <a:p>
                      <a:pPr marL="0" indent="0" algn="l">
                        <a:buNone/>
                      </a:pPr>
                      <a:r>
                        <a:rPr lang="en-US" sz="700" b="1" dirty="0">
                          <a:solidFill>
                            <a:srgbClr val="FFFFFF"/>
                          </a:solidFill>
                          <a:latin typeface="Calibri" pitchFamily="34" charset="0"/>
                          <a:ea typeface="Calibri" pitchFamily="34" charset="-122"/>
                          <a:cs typeface="Calibri" pitchFamily="34" charset="-120"/>
                        </a:rPr>
                        <a:t>Actividad</a:t>
                      </a:r>
                      <a:endParaRPr lang="en-US" sz="700" dirty="0">
                        <a:latin typeface="Calibri" charset="0"/>
                        <a:ea typeface="Calibri" charset="0"/>
                        <a:cs typeface="Calibri" charset="0"/>
                      </a:endParaRPr>
                    </a:p>
                  </a:txBody>
                  <a:tcPr anchor="ct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1E293B"/>
                    </a:solidFill>
                  </a:tcPr>
                </a:tc>
                <a:tc>
                  <a:txBody>
                    <a:bodyPr/>
                    <a:lstStyle/>
                    <a:p>
                      <a:pPr marL="0" indent="0" algn="ctr">
                        <a:buNone/>
                      </a:pPr>
                      <a:r>
                        <a:rPr lang="en-US" sz="600" b="1" dirty="0">
                          <a:solidFill>
                            <a:srgbClr val="FFFFFF"/>
                          </a:solidFill>
                          <a:latin typeface="Calibri" pitchFamily="34" charset="0"/>
                          <a:ea typeface="Calibri" pitchFamily="34" charset="-122"/>
                          <a:cs typeface="Calibri" pitchFamily="34" charset="-120"/>
                        </a:rPr>
                        <a:t>S1</a:t>
                      </a:r>
                      <a:endParaRPr lang="en-US" sz="600" dirty="0">
                        <a:latin typeface="Calibri" charset="0"/>
                        <a:ea typeface="Calibri" charset="0"/>
                        <a:cs typeface="Calibri" charset="0"/>
                      </a:endParaRPr>
                    </a:p>
                  </a:txBody>
                  <a:tcPr anchor="ct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1E293B"/>
                    </a:solidFill>
                  </a:tcPr>
                </a:tc>
                <a:tc>
                  <a:txBody>
                    <a:bodyPr/>
                    <a:lstStyle/>
                    <a:p>
                      <a:pPr marL="0" indent="0" algn="ctr">
                        <a:buNone/>
                      </a:pPr>
                      <a:r>
                        <a:rPr lang="en-US" sz="600" b="1" dirty="0">
                          <a:solidFill>
                            <a:srgbClr val="FFFFFF"/>
                          </a:solidFill>
                          <a:latin typeface="Calibri" pitchFamily="34" charset="0"/>
                          <a:ea typeface="Calibri" pitchFamily="34" charset="-122"/>
                          <a:cs typeface="Calibri" pitchFamily="34" charset="-120"/>
                        </a:rPr>
                        <a:t>S2</a:t>
                      </a:r>
                      <a:endParaRPr lang="en-US" sz="600" dirty="0">
                        <a:latin typeface="Calibri" charset="0"/>
                        <a:ea typeface="Calibri" charset="0"/>
                        <a:cs typeface="Calibri" charset="0"/>
                      </a:endParaRPr>
                    </a:p>
                  </a:txBody>
                  <a:tcPr anchor="ct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1E293B"/>
                    </a:solidFill>
                  </a:tcPr>
                </a:tc>
                <a:tc>
                  <a:txBody>
                    <a:bodyPr/>
                    <a:lstStyle/>
                    <a:p>
                      <a:pPr marL="0" indent="0" algn="ctr">
                        <a:buNone/>
                      </a:pPr>
                      <a:r>
                        <a:rPr lang="en-US" sz="600" b="1" dirty="0">
                          <a:solidFill>
                            <a:srgbClr val="FFFFFF"/>
                          </a:solidFill>
                          <a:latin typeface="Calibri" pitchFamily="34" charset="0"/>
                          <a:ea typeface="Calibri" pitchFamily="34" charset="-122"/>
                          <a:cs typeface="Calibri" pitchFamily="34" charset="-120"/>
                        </a:rPr>
                        <a:t>S3</a:t>
                      </a:r>
                      <a:endParaRPr lang="en-US" sz="600" dirty="0">
                        <a:latin typeface="Calibri" charset="0"/>
                        <a:ea typeface="Calibri" charset="0"/>
                        <a:cs typeface="Calibri" charset="0"/>
                      </a:endParaRPr>
                    </a:p>
                  </a:txBody>
                  <a:tcPr anchor="ct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1E293B"/>
                    </a:solidFill>
                  </a:tcPr>
                </a:tc>
                <a:tc>
                  <a:txBody>
                    <a:bodyPr/>
                    <a:lstStyle/>
                    <a:p>
                      <a:pPr marL="0" indent="0" algn="ctr">
                        <a:buNone/>
                      </a:pPr>
                      <a:r>
                        <a:rPr lang="en-US" sz="600" b="1" dirty="0">
                          <a:solidFill>
                            <a:srgbClr val="FFFFFF"/>
                          </a:solidFill>
                          <a:latin typeface="Calibri" pitchFamily="34" charset="0"/>
                          <a:ea typeface="Calibri" pitchFamily="34" charset="-122"/>
                          <a:cs typeface="Calibri" pitchFamily="34" charset="-120"/>
                        </a:rPr>
                        <a:t>S4</a:t>
                      </a:r>
                      <a:endParaRPr lang="en-US" sz="600" dirty="0">
                        <a:latin typeface="Calibri" charset="0"/>
                        <a:ea typeface="Calibri" charset="0"/>
                        <a:cs typeface="Calibri" charset="0"/>
                      </a:endParaRPr>
                    </a:p>
                  </a:txBody>
                  <a:tcPr anchor="ct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1E293B"/>
                    </a:solidFill>
                  </a:tcPr>
                </a:tc>
                <a:tc>
                  <a:txBody>
                    <a:bodyPr/>
                    <a:lstStyle/>
                    <a:p>
                      <a:pPr marL="0" indent="0" algn="ctr">
                        <a:buNone/>
                      </a:pPr>
                      <a:r>
                        <a:rPr lang="en-US" sz="600" b="1" dirty="0">
                          <a:solidFill>
                            <a:srgbClr val="FFFFFF"/>
                          </a:solidFill>
                          <a:latin typeface="Calibri" pitchFamily="34" charset="0"/>
                          <a:ea typeface="Calibri" pitchFamily="34" charset="-122"/>
                          <a:cs typeface="Calibri" pitchFamily="34" charset="-120"/>
                        </a:rPr>
                        <a:t>S5</a:t>
                      </a:r>
                      <a:endParaRPr lang="en-US" sz="600" dirty="0">
                        <a:latin typeface="Calibri" charset="0"/>
                        <a:ea typeface="Calibri" charset="0"/>
                        <a:cs typeface="Calibri" charset="0"/>
                      </a:endParaRPr>
                    </a:p>
                  </a:txBody>
                  <a:tcPr anchor="ct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1E293B"/>
                    </a:solidFill>
                  </a:tcPr>
                </a:tc>
                <a:tc>
                  <a:txBody>
                    <a:bodyPr/>
                    <a:lstStyle/>
                    <a:p>
                      <a:pPr marL="0" indent="0" algn="ctr">
                        <a:buNone/>
                      </a:pPr>
                      <a:r>
                        <a:rPr lang="en-US" sz="600" b="1" dirty="0">
                          <a:solidFill>
                            <a:srgbClr val="FFFFFF"/>
                          </a:solidFill>
                          <a:latin typeface="Calibri" pitchFamily="34" charset="0"/>
                          <a:ea typeface="Calibri" pitchFamily="34" charset="-122"/>
                          <a:cs typeface="Calibri" pitchFamily="34" charset="-120"/>
                        </a:rPr>
                        <a:t>S6</a:t>
                      </a:r>
                      <a:endParaRPr lang="en-US" sz="600" dirty="0">
                        <a:latin typeface="Calibri" charset="0"/>
                        <a:ea typeface="Calibri" charset="0"/>
                        <a:cs typeface="Calibri" charset="0"/>
                      </a:endParaRPr>
                    </a:p>
                  </a:txBody>
                  <a:tcPr anchor="ct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1E293B"/>
                    </a:solidFill>
                  </a:tcPr>
                </a:tc>
                <a:tc>
                  <a:txBody>
                    <a:bodyPr/>
                    <a:lstStyle/>
                    <a:p>
                      <a:pPr marL="0" indent="0" algn="ctr">
                        <a:buNone/>
                      </a:pPr>
                      <a:r>
                        <a:rPr lang="en-US" sz="600" b="1" dirty="0">
                          <a:solidFill>
                            <a:srgbClr val="FFFFFF"/>
                          </a:solidFill>
                          <a:latin typeface="Calibri" pitchFamily="34" charset="0"/>
                          <a:ea typeface="Calibri" pitchFamily="34" charset="-122"/>
                          <a:cs typeface="Calibri" pitchFamily="34" charset="-120"/>
                        </a:rPr>
                        <a:t>S7</a:t>
                      </a:r>
                      <a:endParaRPr lang="en-US" sz="600" dirty="0">
                        <a:latin typeface="Calibri" charset="0"/>
                        <a:ea typeface="Calibri" charset="0"/>
                        <a:cs typeface="Calibri" charset="0"/>
                      </a:endParaRPr>
                    </a:p>
                  </a:txBody>
                  <a:tcPr anchor="ct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1E293B"/>
                    </a:solidFill>
                  </a:tcPr>
                </a:tc>
                <a:tc>
                  <a:txBody>
                    <a:bodyPr/>
                    <a:lstStyle/>
                    <a:p>
                      <a:pPr marL="0" indent="0" algn="ctr">
                        <a:buNone/>
                      </a:pPr>
                      <a:r>
                        <a:rPr lang="en-US" sz="600" b="1" dirty="0">
                          <a:solidFill>
                            <a:srgbClr val="FFFFFF"/>
                          </a:solidFill>
                          <a:latin typeface="Calibri" pitchFamily="34" charset="0"/>
                          <a:ea typeface="Calibri" pitchFamily="34" charset="-122"/>
                          <a:cs typeface="Calibri" pitchFamily="34" charset="-120"/>
                        </a:rPr>
                        <a:t>S8</a:t>
                      </a:r>
                      <a:endParaRPr lang="en-US" sz="600" dirty="0">
                        <a:latin typeface="Calibri" charset="0"/>
                        <a:ea typeface="Calibri" charset="0"/>
                        <a:cs typeface="Calibri" charset="0"/>
                      </a:endParaRPr>
                    </a:p>
                  </a:txBody>
                  <a:tcPr anchor="ct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1E293B"/>
                    </a:solidFill>
                  </a:tcPr>
                </a:tc>
                <a:tc>
                  <a:txBody>
                    <a:bodyPr/>
                    <a:lstStyle/>
                    <a:p>
                      <a:pPr marL="0" indent="0" algn="ctr">
                        <a:buNone/>
                      </a:pPr>
                      <a:r>
                        <a:rPr lang="en-US" sz="600" b="1" dirty="0">
                          <a:solidFill>
                            <a:srgbClr val="FFFFFF"/>
                          </a:solidFill>
                          <a:latin typeface="Calibri" pitchFamily="34" charset="0"/>
                          <a:ea typeface="Calibri" pitchFamily="34" charset="-122"/>
                          <a:cs typeface="Calibri" pitchFamily="34" charset="-120"/>
                        </a:rPr>
                        <a:t>S9</a:t>
                      </a:r>
                      <a:endParaRPr lang="en-US" sz="600" dirty="0">
                        <a:latin typeface="Calibri" charset="0"/>
                        <a:ea typeface="Calibri" charset="0"/>
                        <a:cs typeface="Calibri" charset="0"/>
                      </a:endParaRPr>
                    </a:p>
                  </a:txBody>
                  <a:tcPr anchor="ct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1E293B"/>
                    </a:solidFill>
                  </a:tcPr>
                </a:tc>
                <a:tc>
                  <a:txBody>
                    <a:bodyPr/>
                    <a:lstStyle/>
                    <a:p>
                      <a:pPr marL="0" indent="0" algn="ctr">
                        <a:buNone/>
                      </a:pPr>
                      <a:r>
                        <a:rPr lang="en-US" sz="600" b="1" dirty="0">
                          <a:solidFill>
                            <a:srgbClr val="FFFFFF"/>
                          </a:solidFill>
                          <a:latin typeface="Calibri" pitchFamily="34" charset="0"/>
                          <a:ea typeface="Calibri" pitchFamily="34" charset="-122"/>
                          <a:cs typeface="Calibri" pitchFamily="34" charset="-120"/>
                        </a:rPr>
                        <a:t>S10</a:t>
                      </a:r>
                      <a:endParaRPr lang="en-US" sz="600" dirty="0">
                        <a:latin typeface="Calibri" charset="0"/>
                        <a:ea typeface="Calibri" charset="0"/>
                        <a:cs typeface="Calibri" charset="0"/>
                      </a:endParaRPr>
                    </a:p>
                  </a:txBody>
                  <a:tcPr anchor="ct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1E293B"/>
                    </a:solidFill>
                  </a:tcPr>
                </a:tc>
                <a:tc>
                  <a:txBody>
                    <a:bodyPr/>
                    <a:lstStyle/>
                    <a:p>
                      <a:pPr marL="0" indent="0" algn="ctr">
                        <a:buNone/>
                      </a:pPr>
                      <a:r>
                        <a:rPr lang="en-US" sz="600" b="1" dirty="0">
                          <a:solidFill>
                            <a:srgbClr val="FFFFFF"/>
                          </a:solidFill>
                          <a:latin typeface="Calibri" pitchFamily="34" charset="0"/>
                          <a:ea typeface="Calibri" pitchFamily="34" charset="-122"/>
                          <a:cs typeface="Calibri" pitchFamily="34" charset="-120"/>
                        </a:rPr>
                        <a:t>S11</a:t>
                      </a:r>
                      <a:endParaRPr lang="en-US" sz="600" dirty="0">
                        <a:latin typeface="Calibri" charset="0"/>
                        <a:ea typeface="Calibri" charset="0"/>
                        <a:cs typeface="Calibri" charset="0"/>
                      </a:endParaRPr>
                    </a:p>
                  </a:txBody>
                  <a:tcPr anchor="ct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1E293B"/>
                    </a:solidFill>
                  </a:tcPr>
                </a:tc>
                <a:tc>
                  <a:txBody>
                    <a:bodyPr/>
                    <a:lstStyle/>
                    <a:p>
                      <a:pPr marL="0" indent="0" algn="ctr">
                        <a:buNone/>
                      </a:pPr>
                      <a:r>
                        <a:rPr lang="en-US" sz="600" b="1" dirty="0">
                          <a:solidFill>
                            <a:srgbClr val="FFFFFF"/>
                          </a:solidFill>
                          <a:latin typeface="Calibri" pitchFamily="34" charset="0"/>
                          <a:ea typeface="Calibri" pitchFamily="34" charset="-122"/>
                          <a:cs typeface="Calibri" pitchFamily="34" charset="-120"/>
                        </a:rPr>
                        <a:t>S12</a:t>
                      </a:r>
                      <a:endParaRPr lang="en-US" sz="600" dirty="0">
                        <a:latin typeface="Calibri" charset="0"/>
                        <a:ea typeface="Calibri" charset="0"/>
                        <a:cs typeface="Calibri" charset="0"/>
                      </a:endParaRPr>
                    </a:p>
                  </a:txBody>
                  <a:tcPr anchor="ct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1E293B"/>
                    </a:solidFill>
                  </a:tcPr>
                </a:tc>
                <a:tc>
                  <a:txBody>
                    <a:bodyPr/>
                    <a:lstStyle/>
                    <a:p>
                      <a:pPr marL="0" indent="0" algn="ctr">
                        <a:buNone/>
                      </a:pPr>
                      <a:r>
                        <a:rPr lang="en-US" sz="600" b="1" dirty="0">
                          <a:solidFill>
                            <a:srgbClr val="FFFFFF"/>
                          </a:solidFill>
                          <a:latin typeface="Calibri" pitchFamily="34" charset="0"/>
                          <a:ea typeface="Calibri" pitchFamily="34" charset="-122"/>
                          <a:cs typeface="Calibri" pitchFamily="34" charset="-120"/>
                        </a:rPr>
                        <a:t>S13</a:t>
                      </a:r>
                      <a:endParaRPr lang="en-US" sz="600" dirty="0">
                        <a:latin typeface="Calibri" charset="0"/>
                        <a:ea typeface="Calibri" charset="0"/>
                        <a:cs typeface="Calibri" charset="0"/>
                      </a:endParaRPr>
                    </a:p>
                  </a:txBody>
                  <a:tcPr anchor="ct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1E293B"/>
                    </a:solidFill>
                  </a:tcPr>
                </a:tc>
                <a:tc>
                  <a:txBody>
                    <a:bodyPr/>
                    <a:lstStyle/>
                    <a:p>
                      <a:pPr marL="0" indent="0" algn="ctr">
                        <a:buNone/>
                      </a:pPr>
                      <a:r>
                        <a:rPr lang="en-US" sz="600" b="1" dirty="0">
                          <a:solidFill>
                            <a:srgbClr val="FFFFFF"/>
                          </a:solidFill>
                          <a:latin typeface="Calibri" pitchFamily="34" charset="0"/>
                          <a:ea typeface="Calibri" pitchFamily="34" charset="-122"/>
                          <a:cs typeface="Calibri" pitchFamily="34" charset="-120"/>
                        </a:rPr>
                        <a:t>S14</a:t>
                      </a:r>
                      <a:endParaRPr lang="en-US" sz="600" dirty="0">
                        <a:latin typeface="Calibri" charset="0"/>
                        <a:ea typeface="Calibri" charset="0"/>
                        <a:cs typeface="Calibri" charset="0"/>
                      </a:endParaRPr>
                    </a:p>
                  </a:txBody>
                  <a:tcPr anchor="ct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1E293B"/>
                    </a:solidFill>
                  </a:tcPr>
                </a:tc>
                <a:tc>
                  <a:txBody>
                    <a:bodyPr/>
                    <a:lstStyle/>
                    <a:p>
                      <a:pPr marL="0" indent="0" algn="ctr">
                        <a:buNone/>
                      </a:pPr>
                      <a:r>
                        <a:rPr lang="en-US" sz="600" b="1" dirty="0">
                          <a:solidFill>
                            <a:srgbClr val="FFFFFF"/>
                          </a:solidFill>
                          <a:latin typeface="Calibri" pitchFamily="34" charset="0"/>
                          <a:ea typeface="Calibri" pitchFamily="34" charset="-122"/>
                          <a:cs typeface="Calibri" pitchFamily="34" charset="-120"/>
                        </a:rPr>
                        <a:t>S15</a:t>
                      </a:r>
                      <a:endParaRPr lang="en-US" sz="600" dirty="0">
                        <a:latin typeface="Calibri" charset="0"/>
                        <a:ea typeface="Calibri" charset="0"/>
                        <a:cs typeface="Calibri" charset="0"/>
                      </a:endParaRPr>
                    </a:p>
                  </a:txBody>
                  <a:tcPr anchor="ct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1E293B"/>
                    </a:solidFill>
                  </a:tcPr>
                </a:tc>
                <a:tc>
                  <a:txBody>
                    <a:bodyPr/>
                    <a:lstStyle/>
                    <a:p>
                      <a:pPr marL="0" indent="0" algn="ctr">
                        <a:buNone/>
                      </a:pPr>
                      <a:r>
                        <a:rPr lang="en-US" sz="600" b="1" dirty="0">
                          <a:solidFill>
                            <a:srgbClr val="FFFFFF"/>
                          </a:solidFill>
                          <a:latin typeface="Calibri" pitchFamily="34" charset="0"/>
                          <a:ea typeface="Calibri" pitchFamily="34" charset="-122"/>
                          <a:cs typeface="Calibri" pitchFamily="34" charset="-120"/>
                        </a:rPr>
                        <a:t>S16</a:t>
                      </a:r>
                      <a:endParaRPr lang="en-US" sz="600" dirty="0">
                        <a:latin typeface="Calibri" charset="0"/>
                        <a:ea typeface="Calibri" charset="0"/>
                        <a:cs typeface="Calibri" charset="0"/>
                      </a:endParaRPr>
                    </a:p>
                  </a:txBody>
                  <a:tcPr anchor="ct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1E293B"/>
                    </a:solidFill>
                  </a:tcPr>
                </a:tc>
                <a:tc>
                  <a:txBody>
                    <a:bodyPr/>
                    <a:lstStyle/>
                    <a:p>
                      <a:pPr marL="0" indent="0" algn="ctr">
                        <a:buNone/>
                      </a:pPr>
                      <a:r>
                        <a:rPr lang="en-US" sz="600" b="1" dirty="0">
                          <a:solidFill>
                            <a:srgbClr val="FFFFFF"/>
                          </a:solidFill>
                          <a:latin typeface="Calibri" pitchFamily="34" charset="0"/>
                          <a:ea typeface="Calibri" pitchFamily="34" charset="-122"/>
                          <a:cs typeface="Calibri" pitchFamily="34" charset="-120"/>
                        </a:rPr>
                        <a:t>S17</a:t>
                      </a:r>
                      <a:endParaRPr lang="en-US" sz="600" dirty="0">
                        <a:latin typeface="Calibri" charset="0"/>
                        <a:ea typeface="Calibri" charset="0"/>
                        <a:cs typeface="Calibri" charset="0"/>
                      </a:endParaRPr>
                    </a:p>
                  </a:txBody>
                  <a:tcPr anchor="ct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1E293B"/>
                    </a:solidFill>
                  </a:tcPr>
                </a:tc>
                <a:tc>
                  <a:txBody>
                    <a:bodyPr/>
                    <a:lstStyle/>
                    <a:p>
                      <a:pPr marL="0" indent="0" algn="ctr">
                        <a:buNone/>
                      </a:pPr>
                      <a:r>
                        <a:rPr lang="en-US" sz="600" b="1" dirty="0">
                          <a:solidFill>
                            <a:srgbClr val="FFFFFF"/>
                          </a:solidFill>
                          <a:latin typeface="Calibri" pitchFamily="34" charset="0"/>
                          <a:ea typeface="Calibri" pitchFamily="34" charset="-122"/>
                          <a:cs typeface="Calibri" pitchFamily="34" charset="-120"/>
                        </a:rPr>
                        <a:t>S18</a:t>
                      </a:r>
                      <a:endParaRPr lang="en-US" sz="600" dirty="0">
                        <a:latin typeface="Calibri" charset="0"/>
                        <a:ea typeface="Calibri" charset="0"/>
                        <a:cs typeface="Calibri" charset="0"/>
                      </a:endParaRPr>
                    </a:p>
                  </a:txBody>
                  <a:tcPr anchor="ct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92608">
                <a:tc>
                  <a:txBody>
                    <a:bodyPr/>
                    <a:lstStyle/>
                    <a:p>
                      <a:pPr marL="0" indent="0" algn="l">
                        <a:buNone/>
                      </a:pPr>
                      <a:r>
                        <a:rPr lang="en-US" sz="700" dirty="0">
                          <a:solidFill>
                            <a:srgbClr val="334155"/>
                          </a:solidFill>
                          <a:latin typeface="Calibri" pitchFamily="34" charset="0"/>
                          <a:ea typeface="Calibri" pitchFamily="34" charset="-122"/>
                          <a:cs typeface="Calibri" pitchFamily="34" charset="-120"/>
                        </a:rPr>
                        <a:t>Análisis y diseño</a:t>
                      </a:r>
                      <a:endParaRPr lang="en-US" sz="700" dirty="0">
                        <a:latin typeface="Calibri" charset="0"/>
                        <a:ea typeface="Calibri" charset="0"/>
                        <a:cs typeface="Calibri" charset="0"/>
                      </a:endParaRPr>
                    </a:p>
                  </a:txBody>
                  <a:tcPr anchor="ct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2563EB"/>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2563EB"/>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extLst>
                  <a:ext uri="{0D108BD9-81ED-4DB2-BD59-A6C34878D82A}">
                    <a16:rowId xmlns:a16="http://schemas.microsoft.com/office/drawing/2014/main" val="10001"/>
                  </a:ext>
                </a:extLst>
              </a:tr>
              <a:tr h="292608">
                <a:tc>
                  <a:txBody>
                    <a:bodyPr/>
                    <a:lstStyle/>
                    <a:p>
                      <a:pPr marL="0" indent="0" algn="l">
                        <a:buNone/>
                      </a:pPr>
                      <a:r>
                        <a:rPr lang="en-US" sz="700" dirty="0">
                          <a:solidFill>
                            <a:srgbClr val="334155"/>
                          </a:solidFill>
                          <a:latin typeface="Calibri" pitchFamily="34" charset="0"/>
                          <a:ea typeface="Calibri" pitchFamily="34" charset="-122"/>
                          <a:cs typeface="Calibri" pitchFamily="34" charset="-120"/>
                        </a:rPr>
                        <a:t>Desarrollo MVP</a:t>
                      </a:r>
                      <a:endParaRPr lang="en-US" sz="700" dirty="0">
                        <a:latin typeface="Calibri" charset="0"/>
                        <a:ea typeface="Calibri" charset="0"/>
                        <a:cs typeface="Calibri" charset="0"/>
                      </a:endParaRPr>
                    </a:p>
                  </a:txBody>
                  <a:tcPr anchor="ct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2563EB"/>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2563EB"/>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2563EB"/>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2563EB"/>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lgn="l">
                        <a:buNone/>
                      </a:pPr>
                      <a:r>
                        <a:rPr lang="en-US" sz="700" dirty="0">
                          <a:solidFill>
                            <a:srgbClr val="334155"/>
                          </a:solidFill>
                          <a:latin typeface="Calibri" pitchFamily="34" charset="0"/>
                          <a:ea typeface="Calibri" pitchFamily="34" charset="-122"/>
                          <a:cs typeface="Calibri" pitchFamily="34" charset="-120"/>
                        </a:rPr>
                        <a:t>Integración MercadoLibre</a:t>
                      </a:r>
                      <a:endParaRPr lang="en-US" sz="700" dirty="0">
                        <a:latin typeface="Calibri" charset="0"/>
                        <a:ea typeface="Calibri" charset="0"/>
                        <a:cs typeface="Calibri" charset="0"/>
                      </a:endParaRPr>
                    </a:p>
                  </a:txBody>
                  <a:tcPr anchor="ct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2563EB"/>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2563EB"/>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10B981"/>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extLst>
                  <a:ext uri="{0D108BD9-81ED-4DB2-BD59-A6C34878D82A}">
                    <a16:rowId xmlns:a16="http://schemas.microsoft.com/office/drawing/2014/main" val="10003"/>
                  </a:ext>
                </a:extLst>
              </a:tr>
              <a:tr h="292608">
                <a:tc>
                  <a:txBody>
                    <a:bodyPr/>
                    <a:lstStyle/>
                    <a:p>
                      <a:pPr marL="0" indent="0" algn="l">
                        <a:buNone/>
                      </a:pPr>
                      <a:r>
                        <a:rPr lang="en-US" sz="700" dirty="0">
                          <a:solidFill>
                            <a:srgbClr val="334155"/>
                          </a:solidFill>
                          <a:latin typeface="Calibri" pitchFamily="34" charset="0"/>
                          <a:ea typeface="Calibri" pitchFamily="34" charset="-122"/>
                          <a:cs typeface="Calibri" pitchFamily="34" charset="-120"/>
                        </a:rPr>
                        <a:t>App conductor (PWA)</a:t>
                      </a:r>
                      <a:endParaRPr lang="en-US" sz="700" dirty="0">
                        <a:latin typeface="Calibri" charset="0"/>
                        <a:ea typeface="Calibri" charset="0"/>
                        <a:cs typeface="Calibri" charset="0"/>
                      </a:endParaRPr>
                    </a:p>
                  </a:txBody>
                  <a:tcPr anchor="ct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2563EB"/>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10B981"/>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2608">
                <a:tc>
                  <a:txBody>
                    <a:bodyPr/>
                    <a:lstStyle/>
                    <a:p>
                      <a:pPr marL="0" indent="0" algn="l">
                        <a:buNone/>
                      </a:pPr>
                      <a:r>
                        <a:rPr lang="en-US" sz="700" dirty="0">
                          <a:solidFill>
                            <a:srgbClr val="334155"/>
                          </a:solidFill>
                          <a:latin typeface="Calibri" pitchFamily="34" charset="0"/>
                          <a:ea typeface="Calibri" pitchFamily="34" charset="-122"/>
                          <a:cs typeface="Calibri" pitchFamily="34" charset="-120"/>
                        </a:rPr>
                        <a:t>Integración operadores</a:t>
                      </a:r>
                      <a:endParaRPr lang="en-US" sz="700" dirty="0">
                        <a:latin typeface="Calibri" charset="0"/>
                        <a:ea typeface="Calibri" charset="0"/>
                        <a:cs typeface="Calibri" charset="0"/>
                      </a:endParaRPr>
                    </a:p>
                  </a:txBody>
                  <a:tcPr anchor="ct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10B981"/>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10B981"/>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10B981"/>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extLst>
                  <a:ext uri="{0D108BD9-81ED-4DB2-BD59-A6C34878D82A}">
                    <a16:rowId xmlns:a16="http://schemas.microsoft.com/office/drawing/2014/main" val="10005"/>
                  </a:ext>
                </a:extLst>
              </a:tr>
              <a:tr h="292608">
                <a:tc>
                  <a:txBody>
                    <a:bodyPr/>
                    <a:lstStyle/>
                    <a:p>
                      <a:pPr marL="0" indent="0" algn="l">
                        <a:buNone/>
                      </a:pPr>
                      <a:r>
                        <a:rPr lang="en-US" sz="700" dirty="0">
                          <a:solidFill>
                            <a:srgbClr val="334155"/>
                          </a:solidFill>
                          <a:latin typeface="Calibri" pitchFamily="34" charset="0"/>
                          <a:ea typeface="Calibri" pitchFamily="34" charset="-122"/>
                          <a:cs typeface="Calibri" pitchFamily="34" charset="-120"/>
                        </a:rPr>
                        <a:t>Módulo facturación</a:t>
                      </a:r>
                      <a:endParaRPr lang="en-US" sz="700" dirty="0">
                        <a:latin typeface="Calibri" charset="0"/>
                        <a:ea typeface="Calibri" charset="0"/>
                        <a:cs typeface="Calibri" charset="0"/>
                      </a:endParaRPr>
                    </a:p>
                  </a:txBody>
                  <a:tcPr anchor="ct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10B981"/>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10B981"/>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92608">
                <a:tc>
                  <a:txBody>
                    <a:bodyPr/>
                    <a:lstStyle/>
                    <a:p>
                      <a:pPr marL="0" indent="0" algn="l">
                        <a:buNone/>
                      </a:pPr>
                      <a:r>
                        <a:rPr lang="en-US" sz="700" dirty="0">
                          <a:solidFill>
                            <a:srgbClr val="334155"/>
                          </a:solidFill>
                          <a:latin typeface="Calibri" pitchFamily="34" charset="0"/>
                          <a:ea typeface="Calibri" pitchFamily="34" charset="-122"/>
                          <a:cs typeface="Calibri" pitchFamily="34" charset="-120"/>
                        </a:rPr>
                        <a:t>Sistema alertas + tracking</a:t>
                      </a:r>
                      <a:endParaRPr lang="en-US" sz="700" dirty="0">
                        <a:latin typeface="Calibri" charset="0"/>
                        <a:ea typeface="Calibri" charset="0"/>
                        <a:cs typeface="Calibri" charset="0"/>
                      </a:endParaRPr>
                    </a:p>
                  </a:txBody>
                  <a:tcPr anchor="ct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10B981"/>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10B981"/>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59E0B"/>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extLst>
                  <a:ext uri="{0D108BD9-81ED-4DB2-BD59-A6C34878D82A}">
                    <a16:rowId xmlns:a16="http://schemas.microsoft.com/office/drawing/2014/main" val="10007"/>
                  </a:ext>
                </a:extLst>
              </a:tr>
              <a:tr h="292608">
                <a:tc>
                  <a:txBody>
                    <a:bodyPr/>
                    <a:lstStyle/>
                    <a:p>
                      <a:pPr marL="0" indent="0" algn="l">
                        <a:buNone/>
                      </a:pPr>
                      <a:r>
                        <a:rPr lang="en-US" sz="700" dirty="0">
                          <a:solidFill>
                            <a:srgbClr val="334155"/>
                          </a:solidFill>
                          <a:latin typeface="Calibri" pitchFamily="34" charset="0"/>
                          <a:ea typeface="Calibri" pitchFamily="34" charset="-122"/>
                          <a:cs typeface="Calibri" pitchFamily="34" charset="-120"/>
                        </a:rPr>
                        <a:t>Testing y correcciones</a:t>
                      </a:r>
                      <a:endParaRPr lang="en-US" sz="700" dirty="0">
                        <a:latin typeface="Calibri" charset="0"/>
                        <a:ea typeface="Calibri" charset="0"/>
                        <a:cs typeface="Calibri" charset="0"/>
                      </a:endParaRPr>
                    </a:p>
                  </a:txBody>
                  <a:tcPr anchor="ct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10B981"/>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59E0B"/>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59E0B"/>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92608">
                <a:tc>
                  <a:txBody>
                    <a:bodyPr/>
                    <a:lstStyle/>
                    <a:p>
                      <a:pPr marL="0" indent="0" algn="l">
                        <a:buNone/>
                      </a:pPr>
                      <a:r>
                        <a:rPr lang="en-US" sz="700" dirty="0">
                          <a:solidFill>
                            <a:srgbClr val="334155"/>
                          </a:solidFill>
                          <a:latin typeface="Calibri" pitchFamily="34" charset="0"/>
                          <a:ea typeface="Calibri" pitchFamily="34" charset="-122"/>
                          <a:cs typeface="Calibri" pitchFamily="34" charset="-120"/>
                        </a:rPr>
                        <a:t>Documentación e informe</a:t>
                      </a:r>
                      <a:endParaRPr lang="en-US" sz="700" dirty="0">
                        <a:latin typeface="Calibri" charset="0"/>
                        <a:ea typeface="Calibri" charset="0"/>
                        <a:cs typeface="Calibri" charset="0"/>
                      </a:endParaRPr>
                    </a:p>
                  </a:txBody>
                  <a:tcPr anchor="ct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59E0B"/>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59E0B"/>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59E0B"/>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1F5F9"/>
                    </a:solidFill>
                  </a:tcPr>
                </a:tc>
                <a:extLst>
                  <a:ext uri="{0D108BD9-81ED-4DB2-BD59-A6C34878D82A}">
                    <a16:rowId xmlns:a16="http://schemas.microsoft.com/office/drawing/2014/main" val="10009"/>
                  </a:ext>
                </a:extLst>
              </a:tr>
              <a:tr h="292608">
                <a:tc>
                  <a:txBody>
                    <a:bodyPr/>
                    <a:lstStyle/>
                    <a:p>
                      <a:pPr marL="0" indent="0" algn="l">
                        <a:buNone/>
                      </a:pPr>
                      <a:r>
                        <a:rPr lang="en-US" sz="700" dirty="0">
                          <a:solidFill>
                            <a:srgbClr val="334155"/>
                          </a:solidFill>
                          <a:latin typeface="Calibri" pitchFamily="34" charset="0"/>
                          <a:ea typeface="Calibri" pitchFamily="34" charset="-122"/>
                          <a:cs typeface="Calibri" pitchFamily="34" charset="-120"/>
                        </a:rPr>
                        <a:t>Presentación y defensa</a:t>
                      </a:r>
                      <a:endParaRPr lang="en-US" sz="700" dirty="0">
                        <a:latin typeface="Calibri" charset="0"/>
                        <a:ea typeface="Calibri" charset="0"/>
                        <a:cs typeface="Calibri" charset="0"/>
                      </a:endParaRPr>
                    </a:p>
                  </a:txBody>
                  <a:tcPr anchor="ct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59E0B"/>
                    </a:solidFill>
                  </a:tcPr>
                </a:tc>
                <a:tc>
                  <a:txBody>
                    <a:bodyPr/>
                    <a:lstStyle/>
                    <a:p>
                      <a:pPr marL="0" indent="0" algn="ctr">
                        <a:buNone/>
                      </a:pPr>
                      <a:endParaRPr lang="en-US" sz="600" dirty="0"/>
                    </a:p>
                  </a:txBody>
                  <a:tcPr>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59E0B"/>
                    </a:solidFill>
                  </a:tcPr>
                </a:tc>
                <a:extLst>
                  <a:ext uri="{0D108BD9-81ED-4DB2-BD59-A6C34878D82A}">
                    <a16:rowId xmlns:a16="http://schemas.microsoft.com/office/drawing/2014/main" val="10010"/>
                  </a:ext>
                </a:extLst>
              </a:tr>
            </a:tbl>
          </a:graphicData>
        </a:graphic>
      </p:graphicFrame>
      <p:sp>
        <p:nvSpPr>
          <p:cNvPr id="6" name="Shape 3"/>
          <p:cNvSpPr/>
          <p:nvPr/>
        </p:nvSpPr>
        <p:spPr>
          <a:xfrm>
            <a:off x="548640" y="4297680"/>
            <a:ext cx="182880" cy="137160"/>
          </a:xfrm>
          <a:prstGeom prst="roundRect">
            <a:avLst>
              <a:gd name="adj" fmla="val 20000"/>
            </a:avLst>
          </a:prstGeom>
          <a:solidFill>
            <a:srgbClr val="2563EB"/>
          </a:solidFill>
          <a:ln/>
        </p:spPr>
        <p:txBody>
          <a:bodyPr/>
          <a:lstStyle/>
          <a:p>
            <a:endParaRPr lang="es-CL"/>
          </a:p>
        </p:txBody>
      </p:sp>
      <p:sp>
        <p:nvSpPr>
          <p:cNvPr id="7" name="Text 4"/>
          <p:cNvSpPr txBox="1"/>
          <p:nvPr/>
        </p:nvSpPr>
        <p:spPr>
          <a:xfrm>
            <a:off x="822960" y="4251960"/>
            <a:ext cx="2377440" cy="22860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Fase 1: Diseño y MVP (S1-S6)</a:t>
            </a:r>
            <a:endParaRPr lang="en-US" sz="800" dirty="0"/>
          </a:p>
        </p:txBody>
      </p:sp>
      <p:sp>
        <p:nvSpPr>
          <p:cNvPr id="8" name="Shape 5"/>
          <p:cNvSpPr/>
          <p:nvPr/>
        </p:nvSpPr>
        <p:spPr>
          <a:xfrm>
            <a:off x="3383280" y="4297680"/>
            <a:ext cx="182880" cy="137160"/>
          </a:xfrm>
          <a:prstGeom prst="roundRect">
            <a:avLst>
              <a:gd name="adj" fmla="val 20000"/>
            </a:avLst>
          </a:prstGeom>
          <a:solidFill>
            <a:srgbClr val="10B981"/>
          </a:solidFill>
          <a:ln/>
        </p:spPr>
        <p:txBody>
          <a:bodyPr/>
          <a:lstStyle/>
          <a:p>
            <a:endParaRPr lang="es-CL"/>
          </a:p>
        </p:txBody>
      </p:sp>
      <p:sp>
        <p:nvSpPr>
          <p:cNvPr id="9" name="Text 6"/>
          <p:cNvSpPr txBox="1"/>
          <p:nvPr/>
        </p:nvSpPr>
        <p:spPr>
          <a:xfrm>
            <a:off x="3657600" y="4251960"/>
            <a:ext cx="2377440" cy="22860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Fase 2: Integraciones (S7-S12)</a:t>
            </a:r>
            <a:endParaRPr lang="en-US" sz="800" dirty="0"/>
          </a:p>
        </p:txBody>
      </p:sp>
      <p:sp>
        <p:nvSpPr>
          <p:cNvPr id="10" name="Shape 7"/>
          <p:cNvSpPr/>
          <p:nvPr/>
        </p:nvSpPr>
        <p:spPr>
          <a:xfrm>
            <a:off x="6217920" y="4297680"/>
            <a:ext cx="182880" cy="137160"/>
          </a:xfrm>
          <a:prstGeom prst="roundRect">
            <a:avLst>
              <a:gd name="adj" fmla="val 20000"/>
            </a:avLst>
          </a:prstGeom>
          <a:solidFill>
            <a:srgbClr val="F59E0B"/>
          </a:solidFill>
          <a:ln/>
        </p:spPr>
        <p:txBody>
          <a:bodyPr/>
          <a:lstStyle/>
          <a:p>
            <a:endParaRPr lang="es-CL"/>
          </a:p>
        </p:txBody>
      </p:sp>
      <p:sp>
        <p:nvSpPr>
          <p:cNvPr id="11" name="Text 8"/>
          <p:cNvSpPr txBox="1"/>
          <p:nvPr/>
        </p:nvSpPr>
        <p:spPr>
          <a:xfrm>
            <a:off x="6492240" y="4251960"/>
            <a:ext cx="2377440" cy="22860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Fase 3: Testing y cierre (S13-S18)</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p:spPr>
        <p:txBody>
          <a:bodyPr/>
          <a:lstStyle/>
          <a:p>
            <a:endParaRPr lang="es-CL"/>
          </a:p>
        </p:txBody>
      </p:sp>
      <p:sp>
        <p:nvSpPr>
          <p:cNvPr id="3" name="Text 1"/>
          <p:cNvSpPr txBox="1"/>
          <p:nvPr/>
        </p:nvSpPr>
        <p:spPr>
          <a:xfrm>
            <a:off x="548640" y="365760"/>
            <a:ext cx="3657600" cy="228600"/>
          </a:xfrm>
          <a:prstGeom prst="rect">
            <a:avLst/>
          </a:prstGeom>
          <a:noFill/>
          <a:ln/>
        </p:spPr>
        <p:txBody>
          <a:bodyPr wrap="square" lIns="0" tIns="0" rIns="0" bIns="0" rtlCol="0" anchor="ctr"/>
          <a:lstStyle/>
          <a:p>
            <a:pPr marL="0" indent="0">
              <a:buNone/>
            </a:pPr>
            <a:r>
              <a:rPr lang="en-US" sz="1000" b="1" dirty="0">
                <a:solidFill>
                  <a:srgbClr val="2563EB"/>
                </a:solidFill>
                <a:latin typeface="Calibri" pitchFamily="34" charset="0"/>
                <a:ea typeface="Calibri" pitchFamily="34" charset="-122"/>
                <a:cs typeface="Calibri" pitchFamily="34" charset="-120"/>
              </a:rPr>
              <a:t>07 · EVIDENCIAS</a:t>
            </a:r>
            <a:endParaRPr lang="en-US" sz="1000" dirty="0"/>
          </a:p>
        </p:txBody>
      </p:sp>
      <p:sp>
        <p:nvSpPr>
          <p:cNvPr id="4" name="Text 2"/>
          <p:cNvSpPr txBox="1"/>
          <p:nvPr/>
        </p:nvSpPr>
        <p:spPr>
          <a:xfrm>
            <a:off x="548640" y="640080"/>
            <a:ext cx="7315200" cy="36576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Entregables del Proyecto</a:t>
            </a:r>
            <a:endParaRPr lang="en-US" sz="2200" dirty="0"/>
          </a:p>
        </p:txBody>
      </p:sp>
      <p:sp>
        <p:nvSpPr>
          <p:cNvPr id="5" name="Shape 3"/>
          <p:cNvSpPr/>
          <p:nvPr/>
        </p:nvSpPr>
        <p:spPr>
          <a:xfrm>
            <a:off x="548640" y="1097280"/>
            <a:ext cx="3931920" cy="749808"/>
          </a:xfrm>
          <a:prstGeom prst="roundRect">
            <a:avLst>
              <a:gd name="adj" fmla="val 9756"/>
            </a:avLst>
          </a:prstGeom>
          <a:solidFill>
            <a:srgbClr val="F1F5F9"/>
          </a:solidFill>
          <a:ln/>
        </p:spPr>
        <p:txBody>
          <a:bodyPr/>
          <a:lstStyle/>
          <a:p>
            <a:endParaRPr lang="es-CL"/>
          </a:p>
        </p:txBody>
      </p:sp>
      <p:sp>
        <p:nvSpPr>
          <p:cNvPr id="6" name="Text 4"/>
          <p:cNvSpPr txBox="1"/>
          <p:nvPr/>
        </p:nvSpPr>
        <p:spPr>
          <a:xfrm>
            <a:off x="640080" y="1188720"/>
            <a:ext cx="457200" cy="36576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7" name="Text 5"/>
          <p:cNvSpPr txBox="1"/>
          <p:nvPr/>
        </p:nvSpPr>
        <p:spPr>
          <a:xfrm>
            <a:off x="1143000" y="1152144"/>
            <a:ext cx="731520" cy="164592"/>
          </a:xfrm>
          <a:prstGeom prst="rect">
            <a:avLst/>
          </a:prstGeom>
          <a:noFill/>
          <a:ln/>
        </p:spPr>
        <p:txBody>
          <a:bodyPr wrap="square" lIns="0" tIns="0" rIns="0" bIns="0" rtlCol="0" anchor="ctr"/>
          <a:lstStyle/>
          <a:p>
            <a:pPr marL="0" indent="0">
              <a:buNone/>
            </a:pPr>
            <a:r>
              <a:rPr lang="en-US" sz="700" b="1" dirty="0">
                <a:solidFill>
                  <a:srgbClr val="2563EB"/>
                </a:solidFill>
                <a:latin typeface="Calibri" pitchFamily="34" charset="0"/>
                <a:ea typeface="Calibri" pitchFamily="34" charset="-122"/>
                <a:cs typeface="Calibri" pitchFamily="34" charset="-120"/>
              </a:rPr>
              <a:t>AVANCE</a:t>
            </a:r>
            <a:endParaRPr lang="en-US" sz="700" dirty="0"/>
          </a:p>
        </p:txBody>
      </p:sp>
      <p:sp>
        <p:nvSpPr>
          <p:cNvPr id="8" name="Text 6"/>
          <p:cNvSpPr txBox="1"/>
          <p:nvPr/>
        </p:nvSpPr>
        <p:spPr>
          <a:xfrm>
            <a:off x="1143000" y="1325880"/>
            <a:ext cx="3108960" cy="228600"/>
          </a:xfrm>
          <a:prstGeom prst="rect">
            <a:avLst/>
          </a:prstGeom>
          <a:noFill/>
          <a:ln/>
        </p:spPr>
        <p:txBody>
          <a:bodyPr wrap="square" lIns="0" tIns="0" rIns="0" bIns="0" rtlCol="0" anchor="ctr"/>
          <a:lstStyle/>
          <a:p>
            <a:pPr marL="0" indent="0">
              <a:buNone/>
            </a:pPr>
            <a:r>
              <a:rPr lang="en-US" sz="1100" b="1" dirty="0">
                <a:solidFill>
                  <a:srgbClr val="0F172A"/>
                </a:solidFill>
                <a:latin typeface="Calibri" pitchFamily="34" charset="0"/>
                <a:ea typeface="Calibri" pitchFamily="34" charset="-122"/>
                <a:cs typeface="Calibri" pitchFamily="34" charset="-120"/>
              </a:rPr>
              <a:t>Sistema web en producción</a:t>
            </a:r>
            <a:endParaRPr lang="en-US" sz="1100" dirty="0"/>
          </a:p>
        </p:txBody>
      </p:sp>
      <p:sp>
        <p:nvSpPr>
          <p:cNvPr id="9" name="Text 7"/>
          <p:cNvSpPr txBox="1"/>
          <p:nvPr/>
        </p:nvSpPr>
        <p:spPr>
          <a:xfrm>
            <a:off x="1143000" y="1554480"/>
            <a:ext cx="310896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Panel multi-tienda funcional con autenticación por roles</a:t>
            </a:r>
            <a:endParaRPr lang="en-US" sz="900" dirty="0"/>
          </a:p>
        </p:txBody>
      </p:sp>
      <p:sp>
        <p:nvSpPr>
          <p:cNvPr id="10" name="Shape 8"/>
          <p:cNvSpPr/>
          <p:nvPr/>
        </p:nvSpPr>
        <p:spPr>
          <a:xfrm>
            <a:off x="548640" y="1965960"/>
            <a:ext cx="3931920" cy="749808"/>
          </a:xfrm>
          <a:prstGeom prst="roundRect">
            <a:avLst>
              <a:gd name="adj" fmla="val 9756"/>
            </a:avLst>
          </a:prstGeom>
          <a:solidFill>
            <a:srgbClr val="F1F5F9"/>
          </a:solidFill>
          <a:ln/>
        </p:spPr>
        <p:txBody>
          <a:bodyPr/>
          <a:lstStyle/>
          <a:p>
            <a:endParaRPr lang="es-CL"/>
          </a:p>
        </p:txBody>
      </p:sp>
      <p:sp>
        <p:nvSpPr>
          <p:cNvPr id="11" name="Text 9"/>
          <p:cNvSpPr txBox="1"/>
          <p:nvPr/>
        </p:nvSpPr>
        <p:spPr>
          <a:xfrm>
            <a:off x="640080" y="2057400"/>
            <a:ext cx="457200" cy="36576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12" name="Text 10"/>
          <p:cNvSpPr txBox="1"/>
          <p:nvPr/>
        </p:nvSpPr>
        <p:spPr>
          <a:xfrm>
            <a:off x="1143000" y="2020824"/>
            <a:ext cx="731520" cy="164592"/>
          </a:xfrm>
          <a:prstGeom prst="rect">
            <a:avLst/>
          </a:prstGeom>
          <a:noFill/>
          <a:ln/>
        </p:spPr>
        <p:txBody>
          <a:bodyPr wrap="square" lIns="0" tIns="0" rIns="0" bIns="0" rtlCol="0" anchor="ctr"/>
          <a:lstStyle/>
          <a:p>
            <a:pPr marL="0" indent="0">
              <a:buNone/>
            </a:pPr>
            <a:r>
              <a:rPr lang="en-US" sz="700" b="1" dirty="0">
                <a:solidFill>
                  <a:srgbClr val="2563EB"/>
                </a:solidFill>
                <a:latin typeface="Calibri" pitchFamily="34" charset="0"/>
                <a:ea typeface="Calibri" pitchFamily="34" charset="-122"/>
                <a:cs typeface="Calibri" pitchFamily="34" charset="-120"/>
              </a:rPr>
              <a:t>AVANCE</a:t>
            </a:r>
            <a:endParaRPr lang="en-US" sz="700" dirty="0"/>
          </a:p>
        </p:txBody>
      </p:sp>
      <p:sp>
        <p:nvSpPr>
          <p:cNvPr id="13" name="Text 11"/>
          <p:cNvSpPr txBox="1"/>
          <p:nvPr/>
        </p:nvSpPr>
        <p:spPr>
          <a:xfrm>
            <a:off x="1143000" y="2194560"/>
            <a:ext cx="3108960" cy="228600"/>
          </a:xfrm>
          <a:prstGeom prst="rect">
            <a:avLst/>
          </a:prstGeom>
          <a:noFill/>
          <a:ln/>
        </p:spPr>
        <p:txBody>
          <a:bodyPr wrap="square" lIns="0" tIns="0" rIns="0" bIns="0" rtlCol="0" anchor="ctr"/>
          <a:lstStyle/>
          <a:p>
            <a:pPr marL="0" indent="0">
              <a:buNone/>
            </a:pPr>
            <a:r>
              <a:rPr lang="en-US" sz="1100" b="1" dirty="0">
                <a:solidFill>
                  <a:srgbClr val="0F172A"/>
                </a:solidFill>
                <a:latin typeface="Calibri" pitchFamily="34" charset="0"/>
                <a:ea typeface="Calibri" pitchFamily="34" charset="-122"/>
                <a:cs typeface="Calibri" pitchFamily="34" charset="-120"/>
              </a:rPr>
              <a:t>App conductor (PWA)</a:t>
            </a:r>
            <a:endParaRPr lang="en-US" sz="1100" dirty="0"/>
          </a:p>
        </p:txBody>
      </p:sp>
      <p:sp>
        <p:nvSpPr>
          <p:cNvPr id="14" name="Text 12"/>
          <p:cNvSpPr txBox="1"/>
          <p:nvPr/>
        </p:nvSpPr>
        <p:spPr>
          <a:xfrm>
            <a:off x="1143000" y="2423160"/>
            <a:ext cx="310896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Escaneo QR, actualización de estados y evidencia fotográfica</a:t>
            </a:r>
            <a:endParaRPr lang="en-US" sz="900" dirty="0"/>
          </a:p>
        </p:txBody>
      </p:sp>
      <p:sp>
        <p:nvSpPr>
          <p:cNvPr id="15" name="Shape 13"/>
          <p:cNvSpPr/>
          <p:nvPr/>
        </p:nvSpPr>
        <p:spPr>
          <a:xfrm>
            <a:off x="548640" y="2834640"/>
            <a:ext cx="3931920" cy="749808"/>
          </a:xfrm>
          <a:prstGeom prst="roundRect">
            <a:avLst>
              <a:gd name="adj" fmla="val 9756"/>
            </a:avLst>
          </a:prstGeom>
          <a:solidFill>
            <a:srgbClr val="F1F5F9"/>
          </a:solidFill>
          <a:ln/>
        </p:spPr>
        <p:txBody>
          <a:bodyPr/>
          <a:lstStyle/>
          <a:p>
            <a:endParaRPr lang="es-CL"/>
          </a:p>
        </p:txBody>
      </p:sp>
      <p:sp>
        <p:nvSpPr>
          <p:cNvPr id="16" name="Text 14"/>
          <p:cNvSpPr txBox="1"/>
          <p:nvPr/>
        </p:nvSpPr>
        <p:spPr>
          <a:xfrm>
            <a:off x="640080" y="2926080"/>
            <a:ext cx="457200" cy="36576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17" name="Text 15"/>
          <p:cNvSpPr txBox="1"/>
          <p:nvPr/>
        </p:nvSpPr>
        <p:spPr>
          <a:xfrm>
            <a:off x="1143000" y="2889504"/>
            <a:ext cx="731520" cy="164592"/>
          </a:xfrm>
          <a:prstGeom prst="rect">
            <a:avLst/>
          </a:prstGeom>
          <a:noFill/>
          <a:ln/>
        </p:spPr>
        <p:txBody>
          <a:bodyPr wrap="square" lIns="0" tIns="0" rIns="0" bIns="0" rtlCol="0" anchor="ctr"/>
          <a:lstStyle/>
          <a:p>
            <a:pPr marL="0" indent="0">
              <a:buNone/>
            </a:pPr>
            <a:r>
              <a:rPr lang="en-US" sz="700" b="1" dirty="0">
                <a:solidFill>
                  <a:srgbClr val="2563EB"/>
                </a:solidFill>
                <a:latin typeface="Calibri" pitchFamily="34" charset="0"/>
                <a:ea typeface="Calibri" pitchFamily="34" charset="-122"/>
                <a:cs typeface="Calibri" pitchFamily="34" charset="-120"/>
              </a:rPr>
              <a:t>AVANCE</a:t>
            </a:r>
            <a:endParaRPr lang="en-US" sz="700" dirty="0"/>
          </a:p>
        </p:txBody>
      </p:sp>
      <p:sp>
        <p:nvSpPr>
          <p:cNvPr id="18" name="Text 16"/>
          <p:cNvSpPr txBox="1"/>
          <p:nvPr/>
        </p:nvSpPr>
        <p:spPr>
          <a:xfrm>
            <a:off x="1143000" y="3063240"/>
            <a:ext cx="3108960" cy="228600"/>
          </a:xfrm>
          <a:prstGeom prst="rect">
            <a:avLst/>
          </a:prstGeom>
          <a:noFill/>
          <a:ln/>
        </p:spPr>
        <p:txBody>
          <a:bodyPr wrap="square" lIns="0" tIns="0" rIns="0" bIns="0" rtlCol="0" anchor="ctr"/>
          <a:lstStyle/>
          <a:p>
            <a:pPr marL="0" indent="0">
              <a:buNone/>
            </a:pPr>
            <a:r>
              <a:rPr lang="en-US" sz="1100" b="1" dirty="0">
                <a:solidFill>
                  <a:srgbClr val="0F172A"/>
                </a:solidFill>
                <a:latin typeface="Calibri" pitchFamily="34" charset="0"/>
                <a:ea typeface="Calibri" pitchFamily="34" charset="-122"/>
                <a:cs typeface="Calibri" pitchFamily="34" charset="-120"/>
              </a:rPr>
              <a:t>Integraciones activas</a:t>
            </a:r>
            <a:endParaRPr lang="en-US" sz="1100" dirty="0"/>
          </a:p>
        </p:txBody>
      </p:sp>
      <p:sp>
        <p:nvSpPr>
          <p:cNvPr id="19" name="Text 17"/>
          <p:cNvSpPr txBox="1"/>
          <p:nvPr/>
        </p:nvSpPr>
        <p:spPr>
          <a:xfrm>
            <a:off x="1143000" y="3291840"/>
            <a:ext cx="310896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MercadoLibre, WooCommerce + operadores logísticos vía webhooks</a:t>
            </a:r>
            <a:endParaRPr lang="en-US" sz="900" dirty="0"/>
          </a:p>
        </p:txBody>
      </p:sp>
      <p:sp>
        <p:nvSpPr>
          <p:cNvPr id="20" name="Shape 18"/>
          <p:cNvSpPr/>
          <p:nvPr/>
        </p:nvSpPr>
        <p:spPr>
          <a:xfrm>
            <a:off x="548640" y="3703320"/>
            <a:ext cx="3931920" cy="749808"/>
          </a:xfrm>
          <a:prstGeom prst="roundRect">
            <a:avLst>
              <a:gd name="adj" fmla="val 9756"/>
            </a:avLst>
          </a:prstGeom>
          <a:solidFill>
            <a:srgbClr val="F1F5F9"/>
          </a:solidFill>
          <a:ln/>
        </p:spPr>
        <p:txBody>
          <a:bodyPr/>
          <a:lstStyle/>
          <a:p>
            <a:endParaRPr lang="es-CL"/>
          </a:p>
        </p:txBody>
      </p:sp>
      <p:sp>
        <p:nvSpPr>
          <p:cNvPr id="21" name="Text 19"/>
          <p:cNvSpPr txBox="1"/>
          <p:nvPr/>
        </p:nvSpPr>
        <p:spPr>
          <a:xfrm>
            <a:off x="640080" y="3794760"/>
            <a:ext cx="457200" cy="36576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22" name="Text 20"/>
          <p:cNvSpPr txBox="1"/>
          <p:nvPr/>
        </p:nvSpPr>
        <p:spPr>
          <a:xfrm>
            <a:off x="1143000" y="3758184"/>
            <a:ext cx="731520" cy="164592"/>
          </a:xfrm>
          <a:prstGeom prst="rect">
            <a:avLst/>
          </a:prstGeom>
          <a:noFill/>
          <a:ln/>
        </p:spPr>
        <p:txBody>
          <a:bodyPr wrap="square" lIns="0" tIns="0" rIns="0" bIns="0" rtlCol="0" anchor="ctr"/>
          <a:lstStyle/>
          <a:p>
            <a:pPr marL="0" indent="0">
              <a:buNone/>
            </a:pPr>
            <a:r>
              <a:rPr lang="en-US" sz="700" b="1" dirty="0">
                <a:solidFill>
                  <a:srgbClr val="10B981"/>
                </a:solidFill>
                <a:latin typeface="Calibri" pitchFamily="34" charset="0"/>
                <a:ea typeface="Calibri" pitchFamily="34" charset="-122"/>
                <a:cs typeface="Calibri" pitchFamily="34" charset="-120"/>
              </a:rPr>
              <a:t>FINAL</a:t>
            </a:r>
            <a:endParaRPr lang="en-US" sz="700" dirty="0"/>
          </a:p>
        </p:txBody>
      </p:sp>
      <p:sp>
        <p:nvSpPr>
          <p:cNvPr id="23" name="Text 21"/>
          <p:cNvSpPr txBox="1"/>
          <p:nvPr/>
        </p:nvSpPr>
        <p:spPr>
          <a:xfrm>
            <a:off x="1143000" y="3931920"/>
            <a:ext cx="3108960" cy="228600"/>
          </a:xfrm>
          <a:prstGeom prst="rect">
            <a:avLst/>
          </a:prstGeom>
          <a:noFill/>
          <a:ln/>
        </p:spPr>
        <p:txBody>
          <a:bodyPr wrap="square" lIns="0" tIns="0" rIns="0" bIns="0" rtlCol="0" anchor="ctr"/>
          <a:lstStyle/>
          <a:p>
            <a:pPr marL="0" indent="0">
              <a:buNone/>
            </a:pPr>
            <a:r>
              <a:rPr lang="en-US" sz="1100" b="1" dirty="0">
                <a:solidFill>
                  <a:srgbClr val="0F172A"/>
                </a:solidFill>
                <a:latin typeface="Calibri" pitchFamily="34" charset="0"/>
                <a:ea typeface="Calibri" pitchFamily="34" charset="-122"/>
                <a:cs typeface="Calibri" pitchFamily="34" charset="-120"/>
              </a:rPr>
              <a:t>Código fuente documentado</a:t>
            </a:r>
            <a:endParaRPr lang="en-US" sz="1100" dirty="0"/>
          </a:p>
        </p:txBody>
      </p:sp>
      <p:sp>
        <p:nvSpPr>
          <p:cNvPr id="24" name="Text 22"/>
          <p:cNvSpPr txBox="1"/>
          <p:nvPr/>
        </p:nvSpPr>
        <p:spPr>
          <a:xfrm>
            <a:off x="1143000" y="4160520"/>
            <a:ext cx="310896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Repositorios GitHub con TypeScript y documentación técnica</a:t>
            </a:r>
            <a:endParaRPr lang="en-US" sz="900" dirty="0"/>
          </a:p>
        </p:txBody>
      </p:sp>
      <p:sp>
        <p:nvSpPr>
          <p:cNvPr id="25" name="Shape 23"/>
          <p:cNvSpPr/>
          <p:nvPr/>
        </p:nvSpPr>
        <p:spPr>
          <a:xfrm>
            <a:off x="4754880" y="1097280"/>
            <a:ext cx="3931920" cy="749808"/>
          </a:xfrm>
          <a:prstGeom prst="roundRect">
            <a:avLst>
              <a:gd name="adj" fmla="val 9756"/>
            </a:avLst>
          </a:prstGeom>
          <a:solidFill>
            <a:srgbClr val="F1F5F9"/>
          </a:solidFill>
          <a:ln/>
        </p:spPr>
        <p:txBody>
          <a:bodyPr/>
          <a:lstStyle/>
          <a:p>
            <a:endParaRPr lang="es-CL"/>
          </a:p>
        </p:txBody>
      </p:sp>
      <p:sp>
        <p:nvSpPr>
          <p:cNvPr id="26" name="Text 24"/>
          <p:cNvSpPr txBox="1"/>
          <p:nvPr/>
        </p:nvSpPr>
        <p:spPr>
          <a:xfrm>
            <a:off x="4846320" y="1188720"/>
            <a:ext cx="457200" cy="36576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27" name="Text 25"/>
          <p:cNvSpPr txBox="1"/>
          <p:nvPr/>
        </p:nvSpPr>
        <p:spPr>
          <a:xfrm>
            <a:off x="5349240" y="1152144"/>
            <a:ext cx="731520" cy="164592"/>
          </a:xfrm>
          <a:prstGeom prst="rect">
            <a:avLst/>
          </a:prstGeom>
          <a:noFill/>
          <a:ln/>
        </p:spPr>
        <p:txBody>
          <a:bodyPr wrap="square" lIns="0" tIns="0" rIns="0" bIns="0" rtlCol="0" anchor="ctr"/>
          <a:lstStyle/>
          <a:p>
            <a:pPr marL="0" indent="0">
              <a:buNone/>
            </a:pPr>
            <a:r>
              <a:rPr lang="en-US" sz="700" b="1" dirty="0">
                <a:solidFill>
                  <a:srgbClr val="10B981"/>
                </a:solidFill>
                <a:latin typeface="Calibri" pitchFamily="34" charset="0"/>
                <a:ea typeface="Calibri" pitchFamily="34" charset="-122"/>
                <a:cs typeface="Calibri" pitchFamily="34" charset="-120"/>
              </a:rPr>
              <a:t>FINAL</a:t>
            </a:r>
            <a:endParaRPr lang="en-US" sz="700" dirty="0"/>
          </a:p>
        </p:txBody>
      </p:sp>
      <p:sp>
        <p:nvSpPr>
          <p:cNvPr id="28" name="Text 26"/>
          <p:cNvSpPr txBox="1"/>
          <p:nvPr/>
        </p:nvSpPr>
        <p:spPr>
          <a:xfrm>
            <a:off x="5349240" y="1325880"/>
            <a:ext cx="3108960" cy="228600"/>
          </a:xfrm>
          <a:prstGeom prst="rect">
            <a:avLst/>
          </a:prstGeom>
          <a:noFill/>
          <a:ln/>
        </p:spPr>
        <p:txBody>
          <a:bodyPr wrap="square" lIns="0" tIns="0" rIns="0" bIns="0" rtlCol="0" anchor="ctr"/>
          <a:lstStyle/>
          <a:p>
            <a:pPr marL="0" indent="0">
              <a:buNone/>
            </a:pPr>
            <a:r>
              <a:rPr lang="en-US" sz="1100" b="1" dirty="0">
                <a:solidFill>
                  <a:srgbClr val="0F172A"/>
                </a:solidFill>
                <a:latin typeface="Calibri" pitchFamily="34" charset="0"/>
                <a:ea typeface="Calibri" pitchFamily="34" charset="-122"/>
                <a:cs typeface="Calibri" pitchFamily="34" charset="-120"/>
              </a:rPr>
              <a:t>Base de datos producción</a:t>
            </a:r>
            <a:endParaRPr lang="en-US" sz="1100" dirty="0"/>
          </a:p>
        </p:txBody>
      </p:sp>
      <p:sp>
        <p:nvSpPr>
          <p:cNvPr id="29" name="Text 27"/>
          <p:cNvSpPr txBox="1"/>
          <p:nvPr/>
        </p:nvSpPr>
        <p:spPr>
          <a:xfrm>
            <a:off x="5349240" y="1554480"/>
            <a:ext cx="310896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PostgreSQL con +10.000 registros y modelo relacional escalable</a:t>
            </a:r>
            <a:endParaRPr lang="en-US" sz="900" dirty="0"/>
          </a:p>
        </p:txBody>
      </p:sp>
      <p:sp>
        <p:nvSpPr>
          <p:cNvPr id="30" name="Shape 28"/>
          <p:cNvSpPr/>
          <p:nvPr/>
        </p:nvSpPr>
        <p:spPr>
          <a:xfrm>
            <a:off x="4754880" y="1965960"/>
            <a:ext cx="3931920" cy="749808"/>
          </a:xfrm>
          <a:prstGeom prst="roundRect">
            <a:avLst>
              <a:gd name="adj" fmla="val 9756"/>
            </a:avLst>
          </a:prstGeom>
          <a:solidFill>
            <a:srgbClr val="F1F5F9"/>
          </a:solidFill>
          <a:ln/>
        </p:spPr>
        <p:txBody>
          <a:bodyPr/>
          <a:lstStyle/>
          <a:p>
            <a:endParaRPr lang="es-CL"/>
          </a:p>
        </p:txBody>
      </p:sp>
      <p:sp>
        <p:nvSpPr>
          <p:cNvPr id="31" name="Text 29"/>
          <p:cNvSpPr txBox="1"/>
          <p:nvPr/>
        </p:nvSpPr>
        <p:spPr>
          <a:xfrm>
            <a:off x="4846320" y="2057400"/>
            <a:ext cx="457200" cy="36576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32" name="Text 30"/>
          <p:cNvSpPr txBox="1"/>
          <p:nvPr/>
        </p:nvSpPr>
        <p:spPr>
          <a:xfrm>
            <a:off x="5349240" y="2020824"/>
            <a:ext cx="731520" cy="164592"/>
          </a:xfrm>
          <a:prstGeom prst="rect">
            <a:avLst/>
          </a:prstGeom>
          <a:noFill/>
          <a:ln/>
        </p:spPr>
        <p:txBody>
          <a:bodyPr wrap="square" lIns="0" tIns="0" rIns="0" bIns="0" rtlCol="0" anchor="ctr"/>
          <a:lstStyle/>
          <a:p>
            <a:pPr marL="0" indent="0">
              <a:buNone/>
            </a:pPr>
            <a:r>
              <a:rPr lang="en-US" sz="700" b="1" dirty="0">
                <a:solidFill>
                  <a:srgbClr val="10B981"/>
                </a:solidFill>
                <a:latin typeface="Calibri" pitchFamily="34" charset="0"/>
                <a:ea typeface="Calibri" pitchFamily="34" charset="-122"/>
                <a:cs typeface="Calibri" pitchFamily="34" charset="-120"/>
              </a:rPr>
              <a:t>FINAL</a:t>
            </a:r>
            <a:endParaRPr lang="en-US" sz="700" dirty="0"/>
          </a:p>
        </p:txBody>
      </p:sp>
      <p:sp>
        <p:nvSpPr>
          <p:cNvPr id="33" name="Text 31"/>
          <p:cNvSpPr txBox="1"/>
          <p:nvPr/>
        </p:nvSpPr>
        <p:spPr>
          <a:xfrm>
            <a:off x="5349240" y="2194560"/>
            <a:ext cx="3108960" cy="228600"/>
          </a:xfrm>
          <a:prstGeom prst="rect">
            <a:avLst/>
          </a:prstGeom>
          <a:noFill/>
          <a:ln/>
        </p:spPr>
        <p:txBody>
          <a:bodyPr wrap="square" lIns="0" tIns="0" rIns="0" bIns="0" rtlCol="0" anchor="ctr"/>
          <a:lstStyle/>
          <a:p>
            <a:pPr marL="0" indent="0">
              <a:buNone/>
            </a:pPr>
            <a:r>
              <a:rPr lang="en-US" sz="1100" b="1" dirty="0">
                <a:solidFill>
                  <a:srgbClr val="0F172A"/>
                </a:solidFill>
                <a:latin typeface="Calibri" pitchFamily="34" charset="0"/>
                <a:ea typeface="Calibri" pitchFamily="34" charset="-122"/>
                <a:cs typeface="Calibri" pitchFamily="34" charset="-120"/>
              </a:rPr>
              <a:t>Módulo de facturación</a:t>
            </a:r>
            <a:endParaRPr lang="en-US" sz="1100" dirty="0"/>
          </a:p>
        </p:txBody>
      </p:sp>
      <p:sp>
        <p:nvSpPr>
          <p:cNvPr id="34" name="Text 32"/>
          <p:cNvSpPr txBox="1"/>
          <p:nvPr/>
        </p:nvSpPr>
        <p:spPr>
          <a:xfrm>
            <a:off x="5349240" y="2423160"/>
            <a:ext cx="310896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Tarifas por zona, cálculo automático e historial de cobros</a:t>
            </a:r>
            <a:endParaRPr lang="en-US" sz="900" dirty="0"/>
          </a:p>
        </p:txBody>
      </p:sp>
      <p:sp>
        <p:nvSpPr>
          <p:cNvPr id="35" name="Shape 33"/>
          <p:cNvSpPr/>
          <p:nvPr/>
        </p:nvSpPr>
        <p:spPr>
          <a:xfrm>
            <a:off x="4754880" y="2834640"/>
            <a:ext cx="3931920" cy="749808"/>
          </a:xfrm>
          <a:prstGeom prst="roundRect">
            <a:avLst>
              <a:gd name="adj" fmla="val 9756"/>
            </a:avLst>
          </a:prstGeom>
          <a:solidFill>
            <a:srgbClr val="F1F5F9"/>
          </a:solidFill>
          <a:ln/>
        </p:spPr>
        <p:txBody>
          <a:bodyPr/>
          <a:lstStyle/>
          <a:p>
            <a:endParaRPr lang="es-CL"/>
          </a:p>
        </p:txBody>
      </p:sp>
      <p:sp>
        <p:nvSpPr>
          <p:cNvPr id="36" name="Text 34"/>
          <p:cNvSpPr txBox="1"/>
          <p:nvPr/>
        </p:nvSpPr>
        <p:spPr>
          <a:xfrm>
            <a:off x="4846320" y="2926080"/>
            <a:ext cx="457200" cy="36576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37" name="Text 35"/>
          <p:cNvSpPr txBox="1"/>
          <p:nvPr/>
        </p:nvSpPr>
        <p:spPr>
          <a:xfrm>
            <a:off x="5349240" y="2889504"/>
            <a:ext cx="731520" cy="164592"/>
          </a:xfrm>
          <a:prstGeom prst="rect">
            <a:avLst/>
          </a:prstGeom>
          <a:noFill/>
          <a:ln/>
        </p:spPr>
        <p:txBody>
          <a:bodyPr wrap="square" lIns="0" tIns="0" rIns="0" bIns="0" rtlCol="0" anchor="ctr"/>
          <a:lstStyle/>
          <a:p>
            <a:pPr marL="0" indent="0">
              <a:buNone/>
            </a:pPr>
            <a:r>
              <a:rPr lang="en-US" sz="700" b="1" dirty="0">
                <a:solidFill>
                  <a:srgbClr val="10B981"/>
                </a:solidFill>
                <a:latin typeface="Calibri" pitchFamily="34" charset="0"/>
                <a:ea typeface="Calibri" pitchFamily="34" charset="-122"/>
                <a:cs typeface="Calibri" pitchFamily="34" charset="-120"/>
              </a:rPr>
              <a:t>FINAL</a:t>
            </a:r>
            <a:endParaRPr lang="en-US" sz="700" dirty="0"/>
          </a:p>
        </p:txBody>
      </p:sp>
      <p:sp>
        <p:nvSpPr>
          <p:cNvPr id="38" name="Text 36"/>
          <p:cNvSpPr txBox="1"/>
          <p:nvPr/>
        </p:nvSpPr>
        <p:spPr>
          <a:xfrm>
            <a:off x="5349240" y="3063240"/>
            <a:ext cx="3108960" cy="228600"/>
          </a:xfrm>
          <a:prstGeom prst="rect">
            <a:avLst/>
          </a:prstGeom>
          <a:noFill/>
          <a:ln/>
        </p:spPr>
        <p:txBody>
          <a:bodyPr wrap="square" lIns="0" tIns="0" rIns="0" bIns="0" rtlCol="0" anchor="ctr"/>
          <a:lstStyle/>
          <a:p>
            <a:pPr marL="0" indent="0">
              <a:buNone/>
            </a:pPr>
            <a:r>
              <a:rPr lang="en-US" sz="1100" b="1" dirty="0">
                <a:solidFill>
                  <a:srgbClr val="0F172A"/>
                </a:solidFill>
                <a:latin typeface="Calibri" pitchFamily="34" charset="0"/>
                <a:ea typeface="Calibri" pitchFamily="34" charset="-122"/>
                <a:cs typeface="Calibri" pitchFamily="34" charset="-120"/>
              </a:rPr>
              <a:t>Informe final APT</a:t>
            </a:r>
            <a:endParaRPr lang="en-US" sz="1100" dirty="0"/>
          </a:p>
        </p:txBody>
      </p:sp>
      <p:sp>
        <p:nvSpPr>
          <p:cNvPr id="39" name="Text 37"/>
          <p:cNvSpPr txBox="1"/>
          <p:nvPr/>
        </p:nvSpPr>
        <p:spPr>
          <a:xfrm>
            <a:off x="5349240" y="3291840"/>
            <a:ext cx="310896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Análisis, resultados, métricas de operación y conclusiones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p:spPr>
        <p:txBody>
          <a:bodyPr/>
          <a:lstStyle/>
          <a:p>
            <a:endParaRPr lang="es-CL"/>
          </a:p>
        </p:txBody>
      </p:sp>
      <p:sp>
        <p:nvSpPr>
          <p:cNvPr id="4" name="Text 2"/>
          <p:cNvSpPr txBox="1"/>
          <p:nvPr/>
        </p:nvSpPr>
        <p:spPr>
          <a:xfrm>
            <a:off x="757645" y="1681761"/>
            <a:ext cx="7628709" cy="1779978"/>
          </a:xfrm>
          <a:prstGeom prst="rect">
            <a:avLst/>
          </a:prstGeom>
          <a:noFill/>
          <a:ln/>
        </p:spPr>
        <p:txBody>
          <a:bodyPr wrap="square" lIns="0" tIns="0" rIns="0" bIns="0" rtlCol="0" anchor="ctr"/>
          <a:lstStyle/>
          <a:p>
            <a:pPr marL="0" indent="0" algn="ctr">
              <a:buNone/>
            </a:pPr>
            <a:r>
              <a:rPr lang="en-US" sz="3600" b="1" dirty="0" err="1">
                <a:solidFill>
                  <a:srgbClr val="FFFFFF"/>
                </a:solidFill>
                <a:latin typeface="Calibri" pitchFamily="34" charset="0"/>
                <a:ea typeface="Calibri" pitchFamily="34" charset="-122"/>
                <a:cs typeface="Calibri" pitchFamily="34" charset="-120"/>
              </a:rPr>
              <a:t>Muchas</a:t>
            </a:r>
            <a:r>
              <a:rPr lang="en-US" sz="3600" b="1" dirty="0">
                <a:solidFill>
                  <a:srgbClr val="FFFFFF"/>
                </a:solidFill>
                <a:latin typeface="Calibri" pitchFamily="34" charset="0"/>
                <a:ea typeface="Calibri" pitchFamily="34" charset="-122"/>
                <a:cs typeface="Calibri" pitchFamily="34" charset="-120"/>
              </a:rPr>
              <a:t> Gracias</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1634</Words>
  <Application>Microsoft Office PowerPoint</Application>
  <PresentationFormat>Presentación en pantalla (16:9)</PresentationFormat>
  <Paragraphs>249</Paragraphs>
  <Slides>13</Slides>
  <Notes>13</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13</vt:i4>
      </vt:variant>
    </vt:vector>
  </HeadingPairs>
  <TitlesOfParts>
    <vt:vector size="16"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Moovex — Proyecto APT · DuocUC 2026</dc:title>
  <dc:subject>PptxGenJS Presentation</dc:subject>
  <dc:creator>Luis Martin Lagos Sepúlveda</dc:creator>
  <cp:lastModifiedBy>LUIS MARTIN ISAIAS SEPULVEDA LAGOS</cp:lastModifiedBy>
  <cp:revision>3</cp:revision>
  <dcterms:created xsi:type="dcterms:W3CDTF">2026-09-01T21:28:07Z</dcterms:created>
  <dcterms:modified xsi:type="dcterms:W3CDTF">2026-09-03T15:54:13Z</dcterms:modified>
</cp:coreProperties>
</file>